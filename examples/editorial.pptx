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DengXian"/>
        <a:ea typeface="DengXian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虚构参与人数</c:v>
                </c:pt>
              </c:strCache>
            </c:strRef>
          </c:tx>
          <c:spPr>
            <a:solidFill>
              <a:srgbClr val="0A579B"/>
            </a:solidFill>
            <a:effectLst/>
          </c:spPr>
          <c:invertIfNegative val="0"/>
          <c:dLbls>
            <c:numFmt formatCode="0.0" sourceLinked="0"/>
            <c:txPr>
              <a:bodyPr>
                <a:noAutofit/>
              </a:bodyPr>
              <a:lstStyle/>
              <a:p>
                <a:pPr>
                  <a:defRPr b="0" i="0" strike="noStrike" sz="1200" u="none">
                    <a:solidFill>
                      <a:srgbClr val="24364B"/>
                    </a:solidFill>
                    <a:latin typeface="DengXian"/>
                    <a:ea typeface="DengXi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第一周</c:v>
                  </c:pt>
                  <c:pt idx="1">
                    <c:v>第二周</c:v>
                  </c:pt>
                  <c:pt idx="2">
                    <c:v>第三周</c:v>
                  </c:pt>
                  <c:pt idx="3">
                    <c:v>第四周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123</c:v>
                </c:pt>
                <c:pt idx="2">
                  <c:v>97</c:v>
                </c:pt>
                <c:pt idx="3">
                  <c:v>148</c:v>
                </c:pt>
              </c:numCache>
            </c:numRef>
          </c:val>
        </c:ser>
        <c:dLbls>
          <c:numFmt formatCode="0.0" sourceLinked="0"/>
          <c:txPr>
            <a:bodyPr>
              <a:noAutofit/>
            </a:bodyPr>
            <a:lstStyle/>
            <a:p>
              <a:pPr>
                <a:defRPr b="0" i="0" strike="noStrike" sz="1200" u="none">
                  <a:solidFill>
                    <a:srgbClr val="24364B"/>
                  </a:solidFill>
                  <a:latin typeface="DengXian"/>
                  <a:ea typeface="DengXi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>
            <a:noAutofit/>
          </a:bodyPr>
          <a:lstStyle/>
          <a:p>
            <a:pPr>
              <a:defRPr sz="14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C9D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>
            <a:noAutofit/>
          </a:bodyPr>
          <a:lstStyle/>
          <a:p>
            <a:pPr>
              <a:defRPr sz="1200" b="0" i="0" u="none" strike="noStrike">
                <a:solidFill>
                  <a:srgbClr val="000000"/>
                </a:solidFill>
                <a:latin typeface="DengXian"/>
                <a:ea typeface="DengXi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DengXian"/>
        <a:ea typeface="DengXian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所有项目、日期与数值均为虚构演示。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DengXian"/>
          <a:ea typeface="DengXian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DengXian"/>
          <a:ea typeface="DengXian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DengXian"/>
          <a:ea typeface="DengXian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DengXian"/>
          <a:ea typeface="DengXian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DengXian"/>
          <a:ea typeface="DengXian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DengXian"/>
          <a:ea typeface="DengXian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engXian"/>
          <a:ea typeface="DengXian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DengXian"/>
          <a:ea typeface="DengXian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0744200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  <p:sp>
        <p:nvSpPr>
          <p:cNvPr id="3" name="cover-year"/>
          <p:cNvSpPr/>
          <p:nvPr/>
        </p:nvSpPr>
        <p:spPr>
          <a:xfrm>
            <a:off x="731520" y="384048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2026 / COMMUNITY</a:t>
            </a:r>
            <a:endParaRPr lang="zh-CN" sz="2800" dirty="0"/>
          </a:p>
        </p:txBody>
      </p:sp>
      <p:sp>
        <p:nvSpPr>
          <p:cNvPr id="4" name="cover-title"/>
          <p:cNvSpPr/>
          <p:nvPr/>
        </p:nvSpPr>
        <p:spPr>
          <a:xfrm>
            <a:off x="731520" y="1856232"/>
            <a:ext cx="10744200" cy="1955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6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让阅读成为</a:t>
            </a:r>
            <a:endParaRPr lang="zh-CN" sz="60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6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社区的日常</a:t>
            </a:r>
            <a:endParaRPr lang="zh-CN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4085844"/>
            <a:ext cx="10744200" cy="59436"/>
          </a:xfrm>
          <a:prstGeom prst="rect">
            <a:avLst/>
          </a:prstGeom>
          <a:solidFill>
            <a:srgbClr val="0A579B"/>
          </a:solidFill>
          <a:ln w="12700">
            <a:solidFill>
              <a:srgbClr val="0A579B">
                <a:alpha val="0"/>
              </a:srgbClr>
            </a:solidFill>
            <a:prstDash val="solid"/>
          </a:ln>
        </p:spPr>
      </p:sp>
      <p:sp>
        <p:nvSpPr>
          <p:cNvPr id="6" name="cover-subtitle"/>
          <p:cNvSpPr/>
          <p:nvPr/>
        </p:nvSpPr>
        <p:spPr>
          <a:xfrm>
            <a:off x="731520" y="4323588"/>
            <a:ext cx="1024128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从试点计划到可检查的服务闭环</a:t>
            </a:r>
            <a:endParaRPr lang="zh-CN" sz="2400" dirty="0"/>
          </a:p>
        </p:txBody>
      </p:sp>
      <p:sp>
        <p:nvSpPr>
          <p:cNvPr id="7" name="cover-meta"/>
          <p:cNvSpPr/>
          <p:nvPr/>
        </p:nvSpPr>
        <p:spPr>
          <a:xfrm>
            <a:off x="731520" y="58704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虚构公开示例 · Blue IB Slides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围绕三件事组织本次试点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02</a:t>
            </a:r>
            <a:endParaRPr lang="zh-CN" sz="1000" dirty="0"/>
          </a:p>
        </p:txBody>
      </p:sp>
      <p:sp>
        <p:nvSpPr>
          <p:cNvPr id="7" name="agenda-1-number"/>
          <p:cNvSpPr/>
          <p:nvPr/>
        </p:nvSpPr>
        <p:spPr>
          <a:xfrm>
            <a:off x="566928" y="1172972"/>
            <a:ext cx="339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01</a:t>
            </a:r>
            <a:endParaRPr lang="zh-CN" sz="2800" dirty="0"/>
          </a:p>
        </p:txBody>
      </p:sp>
      <p:sp>
        <p:nvSpPr>
          <p:cNvPr id="8" name="agenda-1-title"/>
          <p:cNvSpPr/>
          <p:nvPr/>
        </p:nvSpPr>
        <p:spPr>
          <a:xfrm>
            <a:off x="566928" y="1739900"/>
            <a:ext cx="339344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需求与目标</a:t>
            </a:r>
            <a:endParaRPr lang="zh-CN" sz="2000" dirty="0"/>
          </a:p>
        </p:txBody>
      </p:sp>
      <p:sp>
        <p:nvSpPr>
          <p:cNvPr id="9" name="agenda-1-body"/>
          <p:cNvSpPr/>
          <p:nvPr/>
        </p:nvSpPr>
        <p:spPr>
          <a:xfrm>
            <a:off x="566928" y="2263140"/>
            <a:ext cx="339344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记录参与偏好，约定可检查的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目标。</a:t>
            </a:r>
            <a:endParaRPr lang="zh-CN" sz="1800" dirty="0"/>
          </a:p>
        </p:txBody>
      </p:sp>
      <p:sp>
        <p:nvSpPr>
          <p:cNvPr id="10" name="agenda-2-number"/>
          <p:cNvSpPr/>
          <p:nvPr/>
        </p:nvSpPr>
        <p:spPr>
          <a:xfrm>
            <a:off x="4399280" y="1172972"/>
            <a:ext cx="339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02</a:t>
            </a:r>
            <a:endParaRPr lang="zh-CN" sz="2800" dirty="0"/>
          </a:p>
        </p:txBody>
      </p:sp>
      <p:sp>
        <p:nvSpPr>
          <p:cNvPr id="11" name="agenda-2-title"/>
          <p:cNvSpPr/>
          <p:nvPr/>
        </p:nvSpPr>
        <p:spPr>
          <a:xfrm>
            <a:off x="4399280" y="1739900"/>
            <a:ext cx="339344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服务与执行</a:t>
            </a:r>
            <a:endParaRPr lang="zh-CN" sz="2000" dirty="0"/>
          </a:p>
        </p:txBody>
      </p:sp>
      <p:sp>
        <p:nvSpPr>
          <p:cNvPr id="12" name="agenda-2-body"/>
          <p:cNvSpPr/>
          <p:nvPr/>
        </p:nvSpPr>
        <p:spPr>
          <a:xfrm>
            <a:off x="4399280" y="2263140"/>
            <a:ext cx="339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明确分工、资源与阶段交接。</a:t>
            </a:r>
            <a:endParaRPr lang="zh-CN" sz="1800" dirty="0"/>
          </a:p>
        </p:txBody>
      </p:sp>
      <p:sp>
        <p:nvSpPr>
          <p:cNvPr id="13" name="agenda-3-number"/>
          <p:cNvSpPr/>
          <p:nvPr/>
        </p:nvSpPr>
        <p:spPr>
          <a:xfrm>
            <a:off x="8231632" y="1172972"/>
            <a:ext cx="339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8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03</a:t>
            </a:r>
            <a:endParaRPr lang="zh-CN" sz="2800" dirty="0"/>
          </a:p>
        </p:txBody>
      </p:sp>
      <p:sp>
        <p:nvSpPr>
          <p:cNvPr id="14" name="agenda-3-title"/>
          <p:cNvSpPr/>
          <p:nvPr/>
        </p:nvSpPr>
        <p:spPr>
          <a:xfrm>
            <a:off x="8231632" y="1739900"/>
            <a:ext cx="339344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证据与复盘</a:t>
            </a:r>
            <a:endParaRPr lang="zh-CN" sz="2000" dirty="0"/>
          </a:p>
        </p:txBody>
      </p:sp>
      <p:sp>
        <p:nvSpPr>
          <p:cNvPr id="15" name="agenda-3-body"/>
          <p:cNvSpPr/>
          <p:nvPr/>
        </p:nvSpPr>
        <p:spPr>
          <a:xfrm>
            <a:off x="8231632" y="2263140"/>
            <a:ext cx="3393440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保留完整数据，再决定扩展动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作。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共同目标、三项支柱与一套基础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03</a:t>
            </a:r>
            <a:endParaRPr lang="zh-CN" sz="1000" dirty="0"/>
          </a:p>
        </p:txBody>
      </p:sp>
      <p:sp>
        <p:nvSpPr>
          <p:cNvPr id="7" name="shared-goal-roof"/>
          <p:cNvSpPr/>
          <p:nvPr/>
        </p:nvSpPr>
        <p:spPr>
          <a:xfrm>
            <a:off x="566928" y="1063244"/>
            <a:ext cx="11058144" cy="749808"/>
          </a:xfrm>
          <a:prstGeom prst="triangle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8" name="house-goal"/>
          <p:cNvSpPr/>
          <p:nvPr/>
        </p:nvSpPr>
        <p:spPr>
          <a:xfrm>
            <a:off x="2612685" y="1392428"/>
            <a:ext cx="6966631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让阅读更便利</a:t>
            </a:r>
            <a:endParaRPr lang="zh-CN" sz="2000" dirty="0"/>
          </a:p>
        </p:txBody>
      </p:sp>
      <p:sp>
        <p:nvSpPr>
          <p:cNvPr id="9" name="pillar-1-field"/>
          <p:cNvSpPr/>
          <p:nvPr/>
        </p:nvSpPr>
        <p:spPr>
          <a:xfrm>
            <a:off x="566928" y="1995932"/>
            <a:ext cx="3515360" cy="2537460"/>
          </a:xfrm>
          <a:prstGeom prst="rect">
            <a:avLst/>
          </a:prstGeom>
          <a:solidFill>
            <a:srgbClr val="DCEEFC"/>
          </a:solidFill>
          <a:ln w="7620">
            <a:solidFill>
              <a:srgbClr val="DCEEFC"/>
            </a:solidFill>
            <a:prstDash val="solid"/>
          </a:ln>
        </p:spPr>
      </p:sp>
      <p:sp>
        <p:nvSpPr>
          <p:cNvPr id="10" name="pillar-1-header"/>
          <p:cNvSpPr/>
          <p:nvPr/>
        </p:nvSpPr>
        <p:spPr>
          <a:xfrm>
            <a:off x="566928" y="1995932"/>
            <a:ext cx="3515360" cy="587248"/>
          </a:xfrm>
          <a:prstGeom prst="rect">
            <a:avLst/>
          </a:prstGeom>
          <a:solidFill>
            <a:srgbClr val="0A579B"/>
          </a:solidFill>
          <a:ln w="7620">
            <a:solidFill>
              <a:srgbClr val="0A579B"/>
            </a:solidFill>
            <a:prstDash val="solid"/>
          </a:ln>
        </p:spPr>
      </p:sp>
      <p:sp>
        <p:nvSpPr>
          <p:cNvPr id="11" name="pillar-1-title"/>
          <p:cNvSpPr/>
          <p:nvPr/>
        </p:nvSpPr>
        <p:spPr>
          <a:xfrm>
            <a:off x="694944" y="2105660"/>
            <a:ext cx="3259328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空间可达</a:t>
            </a:r>
            <a:endParaRPr lang="zh-CN" sz="2000" dirty="0"/>
          </a:p>
        </p:txBody>
      </p:sp>
      <p:sp>
        <p:nvSpPr>
          <p:cNvPr id="12" name="pillar-1-body"/>
          <p:cNvSpPr/>
          <p:nvPr/>
        </p:nvSpPr>
        <p:spPr>
          <a:xfrm>
            <a:off x="694944" y="2747772"/>
            <a:ext cx="3259328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公布开放时间，提供清晰的使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用指引。</a:t>
            </a:r>
            <a:endParaRPr lang="zh-CN" sz="1800" dirty="0"/>
          </a:p>
        </p:txBody>
      </p:sp>
      <p:sp>
        <p:nvSpPr>
          <p:cNvPr id="13" name="pillar-2-field"/>
          <p:cNvSpPr/>
          <p:nvPr/>
        </p:nvSpPr>
        <p:spPr>
          <a:xfrm>
            <a:off x="4338320" y="1995932"/>
            <a:ext cx="3515360" cy="2537460"/>
          </a:xfrm>
          <a:prstGeom prst="rect">
            <a:avLst/>
          </a:prstGeom>
          <a:solidFill>
            <a:srgbClr val="DCEEFC"/>
          </a:solidFill>
          <a:ln w="7620">
            <a:solidFill>
              <a:srgbClr val="DCEEFC"/>
            </a:solidFill>
            <a:prstDash val="solid"/>
          </a:ln>
        </p:spPr>
      </p:sp>
      <p:sp>
        <p:nvSpPr>
          <p:cNvPr id="14" name="pillar-2-header"/>
          <p:cNvSpPr/>
          <p:nvPr/>
        </p:nvSpPr>
        <p:spPr>
          <a:xfrm>
            <a:off x="4338320" y="1995932"/>
            <a:ext cx="3515360" cy="587248"/>
          </a:xfrm>
          <a:prstGeom prst="rect">
            <a:avLst/>
          </a:prstGeom>
          <a:solidFill>
            <a:srgbClr val="0A579B"/>
          </a:solidFill>
          <a:ln w="7620">
            <a:solidFill>
              <a:srgbClr val="0A579B"/>
            </a:solidFill>
            <a:prstDash val="solid"/>
          </a:ln>
        </p:spPr>
      </p:sp>
      <p:sp>
        <p:nvSpPr>
          <p:cNvPr id="15" name="pillar-2-title"/>
          <p:cNvSpPr/>
          <p:nvPr/>
        </p:nvSpPr>
        <p:spPr>
          <a:xfrm>
            <a:off x="4466336" y="2105660"/>
            <a:ext cx="3259328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活动可参与</a:t>
            </a:r>
            <a:endParaRPr lang="zh-CN" sz="2000" dirty="0"/>
          </a:p>
        </p:txBody>
      </p:sp>
      <p:sp>
        <p:nvSpPr>
          <p:cNvPr id="16" name="pillar-2-body"/>
          <p:cNvSpPr/>
          <p:nvPr/>
        </p:nvSpPr>
        <p:spPr>
          <a:xfrm>
            <a:off x="4466336" y="2747772"/>
            <a:ext cx="3259328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结合参与偏好，安排不同形式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的阅读活动。</a:t>
            </a:r>
            <a:endParaRPr lang="zh-CN" sz="1800" dirty="0"/>
          </a:p>
        </p:txBody>
      </p:sp>
      <p:sp>
        <p:nvSpPr>
          <p:cNvPr id="17" name="pillar-3-field"/>
          <p:cNvSpPr/>
          <p:nvPr/>
        </p:nvSpPr>
        <p:spPr>
          <a:xfrm>
            <a:off x="8109712" y="1995932"/>
            <a:ext cx="3515360" cy="2537460"/>
          </a:xfrm>
          <a:prstGeom prst="rect">
            <a:avLst/>
          </a:prstGeom>
          <a:solidFill>
            <a:srgbClr val="DCEEFC"/>
          </a:solidFill>
          <a:ln w="7620">
            <a:solidFill>
              <a:srgbClr val="DCEEFC"/>
            </a:solidFill>
            <a:prstDash val="solid"/>
          </a:ln>
        </p:spPr>
      </p:sp>
      <p:sp>
        <p:nvSpPr>
          <p:cNvPr id="18" name="pillar-3-header"/>
          <p:cNvSpPr/>
          <p:nvPr/>
        </p:nvSpPr>
        <p:spPr>
          <a:xfrm>
            <a:off x="8109712" y="1995932"/>
            <a:ext cx="3515360" cy="587248"/>
          </a:xfrm>
          <a:prstGeom prst="rect">
            <a:avLst/>
          </a:prstGeom>
          <a:solidFill>
            <a:srgbClr val="0A579B"/>
          </a:solidFill>
          <a:ln w="7620">
            <a:solidFill>
              <a:srgbClr val="0A579B"/>
            </a:solidFill>
            <a:prstDash val="solid"/>
          </a:ln>
        </p:spPr>
      </p:sp>
      <p:sp>
        <p:nvSpPr>
          <p:cNvPr id="19" name="pillar-3-title"/>
          <p:cNvSpPr/>
          <p:nvPr/>
        </p:nvSpPr>
        <p:spPr>
          <a:xfrm>
            <a:off x="8237728" y="2105660"/>
            <a:ext cx="3259328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结果可复核</a:t>
            </a:r>
            <a:endParaRPr lang="zh-CN" sz="2000" dirty="0"/>
          </a:p>
        </p:txBody>
      </p:sp>
      <p:sp>
        <p:nvSpPr>
          <p:cNvPr id="20" name="pillar-3-body"/>
          <p:cNvSpPr/>
          <p:nvPr/>
        </p:nvSpPr>
        <p:spPr>
          <a:xfrm>
            <a:off x="8237728" y="2747772"/>
            <a:ext cx="3259328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记录场次、参与和反馈，注明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统计口径。</a:t>
            </a:r>
            <a:endParaRPr lang="zh-CN" sz="1800" dirty="0"/>
          </a:p>
        </p:txBody>
      </p:sp>
      <p:sp>
        <p:nvSpPr>
          <p:cNvPr id="21" name="house-foundation"/>
          <p:cNvSpPr/>
          <p:nvPr/>
        </p:nvSpPr>
        <p:spPr>
          <a:xfrm>
            <a:off x="566928" y="4716272"/>
            <a:ext cx="11058144" cy="1337056"/>
          </a:xfrm>
          <a:prstGeom prst="rect">
            <a:avLst/>
          </a:prstGeom>
          <a:solidFill>
            <a:srgbClr val="DCEEFC"/>
          </a:solidFill>
          <a:ln w="7620">
            <a:solidFill>
              <a:srgbClr val="DCEEFC"/>
            </a:solidFill>
            <a:prstDash val="solid"/>
          </a:ln>
        </p:spPr>
      </p:sp>
      <p:sp>
        <p:nvSpPr>
          <p:cNvPr id="22" name="foundation-title"/>
          <p:cNvSpPr/>
          <p:nvPr/>
        </p:nvSpPr>
        <p:spPr>
          <a:xfrm>
            <a:off x="731520" y="4844288"/>
            <a:ext cx="10728960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共同基础</a:t>
            </a:r>
            <a:endParaRPr lang="zh-CN" sz="2000" dirty="0"/>
          </a:p>
        </p:txBody>
      </p:sp>
      <p:sp>
        <p:nvSpPr>
          <p:cNvPr id="23" name="foundation-body"/>
          <p:cNvSpPr/>
          <p:nvPr/>
        </p:nvSpPr>
        <p:spPr>
          <a:xfrm>
            <a:off x="731520" y="5303520"/>
            <a:ext cx="1072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共用资源清单、责任交接与反馈记录。</a:t>
            </a:r>
            <a:endParaRPr lang="zh-C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把每轮反馈转成下一轮改进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04</a:t>
            </a:r>
            <a:endParaRPr lang="zh-CN" sz="1000" dirty="0"/>
          </a:p>
        </p:txBody>
      </p:sp>
      <p:sp>
        <p:nvSpPr>
          <p:cNvPr id="7" name="complete-cycle-ring"/>
          <p:cNvSpPr/>
          <p:nvPr/>
        </p:nvSpPr>
        <p:spPr>
          <a:xfrm>
            <a:off x="850392" y="2442718"/>
            <a:ext cx="2231136" cy="2231136"/>
          </a:xfrm>
          <a:prstGeom prst="ellipse">
            <a:avLst/>
          </a:prstGeom>
          <a:solidFill>
            <a:srgbClr val="FFFFFF">
              <a:alpha val="0"/>
            </a:srgbClr>
          </a:solidFill>
          <a:ln w="203200">
            <a:solidFill>
              <a:srgbClr val="0A579B">
                <a:alpha val="88000"/>
              </a:srgbClr>
            </a:solidFill>
            <a:prstDash val="solid"/>
          </a:ln>
        </p:spPr>
      </p:sp>
      <p:sp>
        <p:nvSpPr>
          <p:cNvPr id="8" name="cycle-direction-1"/>
          <p:cNvSpPr/>
          <p:nvPr/>
        </p:nvSpPr>
        <p:spPr>
          <a:xfrm rot="9000000">
            <a:off x="2749190" y="2817622"/>
            <a:ext cx="365760" cy="365760"/>
          </a:xfrm>
          <a:prstGeom prst="triangle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9" name="cycle-direction-2"/>
          <p:cNvSpPr/>
          <p:nvPr/>
        </p:nvSpPr>
        <p:spPr>
          <a:xfrm rot="16200000">
            <a:off x="1783080" y="4490974"/>
            <a:ext cx="365760" cy="365760"/>
          </a:xfrm>
          <a:prstGeom prst="triangle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10" name="cycle-direction-3"/>
          <p:cNvSpPr/>
          <p:nvPr/>
        </p:nvSpPr>
        <p:spPr>
          <a:xfrm rot="1800000">
            <a:off x="816970" y="2817622"/>
            <a:ext cx="365760" cy="365760"/>
          </a:xfrm>
          <a:prstGeom prst="triangle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11" name="cycle-center"/>
          <p:cNvSpPr/>
          <p:nvPr/>
        </p:nvSpPr>
        <p:spPr>
          <a:xfrm>
            <a:off x="1348740" y="3390265"/>
            <a:ext cx="12344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持续改进</a:t>
            </a:r>
            <a:endParaRPr lang="zh-CN" sz="1800" dirty="0"/>
          </a:p>
        </p:txBody>
      </p:sp>
      <p:sp>
        <p:nvSpPr>
          <p:cNvPr id="12" name="cycle-node-1"/>
          <p:cNvSpPr/>
          <p:nvPr/>
        </p:nvSpPr>
        <p:spPr>
          <a:xfrm>
            <a:off x="1755648" y="2232406"/>
            <a:ext cx="420624" cy="420624"/>
          </a:xfrm>
          <a:prstGeom prst="ellipse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13" name="cycle-number-1"/>
          <p:cNvSpPr/>
          <p:nvPr/>
        </p:nvSpPr>
        <p:spPr>
          <a:xfrm>
            <a:off x="1755648" y="228269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1</a:t>
            </a:r>
            <a:endParaRPr lang="zh-CN" sz="1600" dirty="0"/>
          </a:p>
        </p:txBody>
      </p:sp>
      <p:sp>
        <p:nvSpPr>
          <p:cNvPr id="14" name="cycle-node-2"/>
          <p:cNvSpPr/>
          <p:nvPr/>
        </p:nvSpPr>
        <p:spPr>
          <a:xfrm>
            <a:off x="2721758" y="3905758"/>
            <a:ext cx="420624" cy="420624"/>
          </a:xfrm>
          <a:prstGeom prst="ellipse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15" name="cycle-number-2"/>
          <p:cNvSpPr/>
          <p:nvPr/>
        </p:nvSpPr>
        <p:spPr>
          <a:xfrm>
            <a:off x="2721758" y="395605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</a:t>
            </a:r>
            <a:endParaRPr lang="zh-CN" sz="1600" dirty="0"/>
          </a:p>
        </p:txBody>
      </p:sp>
      <p:sp>
        <p:nvSpPr>
          <p:cNvPr id="16" name="cycle-node-3"/>
          <p:cNvSpPr/>
          <p:nvPr/>
        </p:nvSpPr>
        <p:spPr>
          <a:xfrm>
            <a:off x="789538" y="3905758"/>
            <a:ext cx="420624" cy="420624"/>
          </a:xfrm>
          <a:prstGeom prst="ellipse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17" name="cycle-number-3"/>
          <p:cNvSpPr/>
          <p:nvPr/>
        </p:nvSpPr>
        <p:spPr>
          <a:xfrm>
            <a:off x="789538" y="395605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3</a:t>
            </a:r>
            <a:endParaRPr lang="zh-CN" sz="1600" dirty="0"/>
          </a:p>
        </p:txBody>
      </p:sp>
      <p:sp>
        <p:nvSpPr>
          <p:cNvPr id="18" name="cycle-1-title"/>
          <p:cNvSpPr/>
          <p:nvPr/>
        </p:nvSpPr>
        <p:spPr>
          <a:xfrm>
            <a:off x="3922776" y="1063244"/>
            <a:ext cx="1993392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01 收集需求</a:t>
            </a:r>
            <a:endParaRPr lang="zh-CN" sz="2000" dirty="0"/>
          </a:p>
        </p:txBody>
      </p:sp>
      <p:sp>
        <p:nvSpPr>
          <p:cNvPr id="19" name="cycle-1-body"/>
          <p:cNvSpPr/>
          <p:nvPr/>
        </p:nvSpPr>
        <p:spPr>
          <a:xfrm>
            <a:off x="6099048" y="1063244"/>
            <a:ext cx="5526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记录参与者的时间、空间与活动偏好。</a:t>
            </a:r>
            <a:endParaRPr lang="zh-CN" sz="1800" dirty="0"/>
          </a:p>
        </p:txBody>
      </p:sp>
      <p:sp>
        <p:nvSpPr>
          <p:cNvPr id="20" name="Shape 18"/>
          <p:cNvSpPr/>
          <p:nvPr/>
        </p:nvSpPr>
        <p:spPr>
          <a:xfrm>
            <a:off x="3922776" y="1762760"/>
            <a:ext cx="7702296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  <p:sp>
        <p:nvSpPr>
          <p:cNvPr id="21" name="cycle-2-title"/>
          <p:cNvSpPr/>
          <p:nvPr/>
        </p:nvSpPr>
        <p:spPr>
          <a:xfrm>
            <a:off x="3922776" y="1831340"/>
            <a:ext cx="1993392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02 组织试点</a:t>
            </a:r>
            <a:endParaRPr lang="zh-CN" sz="2000" dirty="0"/>
          </a:p>
        </p:txBody>
      </p:sp>
      <p:sp>
        <p:nvSpPr>
          <p:cNvPr id="22" name="cycle-2-body"/>
          <p:cNvSpPr/>
          <p:nvPr/>
        </p:nvSpPr>
        <p:spPr>
          <a:xfrm>
            <a:off x="6099048" y="1831340"/>
            <a:ext cx="5526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按约定分工执行，保留活动与交接记录。</a:t>
            </a:r>
            <a:endParaRPr lang="zh-CN" sz="1800" dirty="0"/>
          </a:p>
        </p:txBody>
      </p:sp>
      <p:sp>
        <p:nvSpPr>
          <p:cNvPr id="23" name="Shape 21"/>
          <p:cNvSpPr/>
          <p:nvPr/>
        </p:nvSpPr>
        <p:spPr>
          <a:xfrm>
            <a:off x="3922776" y="2530856"/>
            <a:ext cx="7702296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  <p:sp>
        <p:nvSpPr>
          <p:cNvPr id="24" name="cycle-3-title"/>
          <p:cNvSpPr/>
          <p:nvPr/>
        </p:nvSpPr>
        <p:spPr>
          <a:xfrm>
            <a:off x="3922776" y="2599436"/>
            <a:ext cx="1993392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03 复核结果</a:t>
            </a:r>
            <a:endParaRPr lang="zh-CN" sz="2000" dirty="0"/>
          </a:p>
        </p:txBody>
      </p:sp>
      <p:sp>
        <p:nvSpPr>
          <p:cNvPr id="25" name="cycle-3-body"/>
          <p:cNvSpPr/>
          <p:nvPr/>
        </p:nvSpPr>
        <p:spPr>
          <a:xfrm>
            <a:off x="6099048" y="2599436"/>
            <a:ext cx="5526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核对参与、反馈和限制，明确下一轮调整。</a:t>
            </a:r>
            <a:endParaRPr lang="zh-C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三阶段推进，每个阶段都有交付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05</a:t>
            </a:r>
            <a:endParaRPr lang="zh-CN" sz="1000" dirty="0"/>
          </a:p>
        </p:txBody>
      </p:sp>
      <p:sp>
        <p:nvSpPr>
          <p:cNvPr id="7" name="phase-1-sequence"/>
          <p:cNvSpPr/>
          <p:nvPr/>
        </p:nvSpPr>
        <p:spPr>
          <a:xfrm>
            <a:off x="566928" y="1063244"/>
            <a:ext cx="3478784" cy="587248"/>
          </a:xfrm>
          <a:prstGeom prst="chevron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8" name="phase-1-title"/>
          <p:cNvSpPr/>
          <p:nvPr/>
        </p:nvSpPr>
        <p:spPr>
          <a:xfrm>
            <a:off x="658368" y="1172972"/>
            <a:ext cx="3186176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01 准备</a:t>
            </a:r>
            <a:endParaRPr lang="zh-CN" sz="2000" dirty="0"/>
          </a:p>
        </p:txBody>
      </p:sp>
      <p:sp>
        <p:nvSpPr>
          <p:cNvPr id="9" name="phase-1-date"/>
          <p:cNvSpPr/>
          <p:nvPr/>
        </p:nvSpPr>
        <p:spPr>
          <a:xfrm>
            <a:off x="566928" y="1888236"/>
            <a:ext cx="34787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第一周</a:t>
            </a:r>
            <a:endParaRPr lang="zh-CN" sz="1800" dirty="0"/>
          </a:p>
        </p:txBody>
      </p:sp>
      <p:sp>
        <p:nvSpPr>
          <p:cNvPr id="10" name="phase-1-body"/>
          <p:cNvSpPr/>
          <p:nvPr/>
        </p:nvSpPr>
        <p:spPr>
          <a:xfrm>
            <a:off x="566928" y="2388870"/>
            <a:ext cx="3387344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完成需求记录、资源清单和分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工。</a:t>
            </a:r>
            <a:endParaRPr lang="zh-CN" sz="1800" dirty="0"/>
          </a:p>
        </p:txBody>
      </p:sp>
      <p:sp>
        <p:nvSpPr>
          <p:cNvPr id="11" name="phase-2-sequence"/>
          <p:cNvSpPr/>
          <p:nvPr/>
        </p:nvSpPr>
        <p:spPr>
          <a:xfrm>
            <a:off x="4356608" y="1063244"/>
            <a:ext cx="3478784" cy="587248"/>
          </a:xfrm>
          <a:prstGeom prst="chevron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12" name="phase-2-title"/>
          <p:cNvSpPr/>
          <p:nvPr/>
        </p:nvSpPr>
        <p:spPr>
          <a:xfrm>
            <a:off x="4448048" y="1172972"/>
            <a:ext cx="3186176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02 试点</a:t>
            </a:r>
            <a:endParaRPr lang="zh-CN" sz="2000" dirty="0"/>
          </a:p>
        </p:txBody>
      </p:sp>
      <p:sp>
        <p:nvSpPr>
          <p:cNvPr id="13" name="phase-2-date"/>
          <p:cNvSpPr/>
          <p:nvPr/>
        </p:nvSpPr>
        <p:spPr>
          <a:xfrm>
            <a:off x="4356608" y="1888236"/>
            <a:ext cx="34787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第二至三周</a:t>
            </a:r>
            <a:endParaRPr lang="zh-CN" sz="1800" dirty="0"/>
          </a:p>
        </p:txBody>
      </p:sp>
      <p:sp>
        <p:nvSpPr>
          <p:cNvPr id="14" name="phase-2-body"/>
          <p:cNvSpPr/>
          <p:nvPr/>
        </p:nvSpPr>
        <p:spPr>
          <a:xfrm>
            <a:off x="4356608" y="2388870"/>
            <a:ext cx="3387344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举办活动，记录参与和服务反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馈。</a:t>
            </a:r>
            <a:endParaRPr lang="zh-CN" sz="1800" dirty="0"/>
          </a:p>
        </p:txBody>
      </p:sp>
      <p:sp>
        <p:nvSpPr>
          <p:cNvPr id="15" name="phase-3-sequence"/>
          <p:cNvSpPr/>
          <p:nvPr/>
        </p:nvSpPr>
        <p:spPr>
          <a:xfrm>
            <a:off x="8146288" y="1063244"/>
            <a:ext cx="3478784" cy="587248"/>
          </a:xfrm>
          <a:prstGeom prst="chevron">
            <a:avLst/>
          </a:prstGeom>
          <a:solidFill>
            <a:srgbClr val="0A579B"/>
          </a:solidFill>
          <a:ln w="12700">
            <a:solidFill>
              <a:srgbClr val="0A579B"/>
            </a:solidFill>
            <a:prstDash val="solid"/>
          </a:ln>
        </p:spPr>
      </p:sp>
      <p:sp>
        <p:nvSpPr>
          <p:cNvPr id="16" name="phase-3-title"/>
          <p:cNvSpPr/>
          <p:nvPr/>
        </p:nvSpPr>
        <p:spPr>
          <a:xfrm>
            <a:off x="8237728" y="1172972"/>
            <a:ext cx="3186176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03 复盘</a:t>
            </a:r>
            <a:endParaRPr lang="zh-CN" sz="2000" dirty="0"/>
          </a:p>
        </p:txBody>
      </p:sp>
      <p:sp>
        <p:nvSpPr>
          <p:cNvPr id="17" name="phase-3-date"/>
          <p:cNvSpPr/>
          <p:nvPr/>
        </p:nvSpPr>
        <p:spPr>
          <a:xfrm>
            <a:off x="8146288" y="1888236"/>
            <a:ext cx="3478784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第四周</a:t>
            </a:r>
            <a:endParaRPr lang="zh-CN" sz="1800" dirty="0"/>
          </a:p>
        </p:txBody>
      </p:sp>
      <p:sp>
        <p:nvSpPr>
          <p:cNvPr id="18" name="phase-3-body"/>
          <p:cNvSpPr/>
          <p:nvPr/>
        </p:nvSpPr>
        <p:spPr>
          <a:xfrm>
            <a:off x="8146288" y="2388870"/>
            <a:ext cx="3387344" cy="90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核验结果，形成下一轮调整清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单。</a:t>
            </a:r>
            <a:endParaRPr lang="zh-CN" sz="1800" dirty="0"/>
          </a:p>
        </p:txBody>
      </p:sp>
      <p:sp>
        <p:nvSpPr>
          <p:cNvPr id="19" name="phase-summary"/>
          <p:cNvSpPr/>
          <p:nvPr/>
        </p:nvSpPr>
        <p:spPr>
          <a:xfrm>
            <a:off x="566928" y="5431536"/>
            <a:ext cx="11058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先核验试点证据，再讨论扩大范围。</a:t>
            </a:r>
            <a:endParaRPr lang="zh-CN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让改进动作对应具体问题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06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063244"/>
            <a:ext cx="5273040" cy="623824"/>
          </a:xfrm>
          <a:prstGeom prst="rect">
            <a:avLst/>
          </a:prstGeom>
          <a:solidFill>
            <a:srgbClr val="DCEEFC"/>
          </a:solidFill>
          <a:ln w="12700">
            <a:solidFill>
              <a:srgbClr val="DCEEFC">
                <a:alpha val="0"/>
              </a:srgbClr>
            </a:solidFill>
            <a:prstDash val="solid"/>
          </a:ln>
        </p:spPr>
      </p:sp>
      <p:sp>
        <p:nvSpPr>
          <p:cNvPr id="8" name="comparison-header-0"/>
          <p:cNvSpPr/>
          <p:nvPr/>
        </p:nvSpPr>
        <p:spPr>
          <a:xfrm>
            <a:off x="694944" y="1191260"/>
            <a:ext cx="5017008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观察到的问题</a:t>
            </a:r>
            <a:endParaRPr lang="zh-CN" sz="2000" dirty="0"/>
          </a:p>
        </p:txBody>
      </p:sp>
      <p:sp>
        <p:nvSpPr>
          <p:cNvPr id="9" name="Shape 7"/>
          <p:cNvSpPr/>
          <p:nvPr/>
        </p:nvSpPr>
        <p:spPr>
          <a:xfrm>
            <a:off x="6352032" y="1063244"/>
            <a:ext cx="5273040" cy="623824"/>
          </a:xfrm>
          <a:prstGeom prst="rect">
            <a:avLst/>
          </a:prstGeom>
          <a:solidFill>
            <a:srgbClr val="0A579B"/>
          </a:solidFill>
          <a:ln w="12700">
            <a:solidFill>
              <a:srgbClr val="0A579B">
                <a:alpha val="0"/>
              </a:srgbClr>
            </a:solidFill>
            <a:prstDash val="solid"/>
          </a:ln>
        </p:spPr>
      </p:sp>
      <p:sp>
        <p:nvSpPr>
          <p:cNvPr id="10" name="comparison-header-1"/>
          <p:cNvSpPr/>
          <p:nvPr/>
        </p:nvSpPr>
        <p:spPr>
          <a:xfrm>
            <a:off x="6480048" y="1191260"/>
            <a:ext cx="5017008" cy="40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下一轮改进</a:t>
            </a:r>
            <a:endParaRPr lang="zh-CN" sz="2000" dirty="0"/>
          </a:p>
        </p:txBody>
      </p:sp>
      <p:sp>
        <p:nvSpPr>
          <p:cNvPr id="11" name="pair-1-0-title"/>
          <p:cNvSpPr/>
          <p:nvPr/>
        </p:nvSpPr>
        <p:spPr>
          <a:xfrm>
            <a:off x="694944" y="1869948"/>
            <a:ext cx="501700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时间选择集中</a:t>
            </a:r>
            <a:endParaRPr lang="zh-CN" sz="2000" dirty="0"/>
          </a:p>
        </p:txBody>
      </p:sp>
      <p:sp>
        <p:nvSpPr>
          <p:cNvPr id="12" name="pair-1-0-body"/>
          <p:cNvSpPr/>
          <p:nvPr/>
        </p:nvSpPr>
        <p:spPr>
          <a:xfrm>
            <a:off x="694944" y="2347468"/>
            <a:ext cx="501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部分参与者难以参加工作日活动。</a:t>
            </a:r>
            <a:endParaRPr lang="zh-CN" sz="1800" dirty="0"/>
          </a:p>
        </p:txBody>
      </p:sp>
      <p:sp>
        <p:nvSpPr>
          <p:cNvPr id="13" name="pair-1-1-title"/>
          <p:cNvSpPr/>
          <p:nvPr/>
        </p:nvSpPr>
        <p:spPr>
          <a:xfrm>
            <a:off x="6480048" y="1869948"/>
            <a:ext cx="501700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增加周末场次</a:t>
            </a:r>
            <a:endParaRPr lang="zh-CN" sz="2000" dirty="0"/>
          </a:p>
        </p:txBody>
      </p:sp>
      <p:sp>
        <p:nvSpPr>
          <p:cNvPr id="14" name="pair-1-1-body"/>
          <p:cNvSpPr/>
          <p:nvPr/>
        </p:nvSpPr>
        <p:spPr>
          <a:xfrm>
            <a:off x="6480048" y="2347468"/>
            <a:ext cx="501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记录不同时段需求，保留选择依据。</a:t>
            </a:r>
            <a:endParaRPr lang="zh-CN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3170428"/>
            <a:ext cx="11058144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  <p:sp>
        <p:nvSpPr>
          <p:cNvPr id="16" name="pair-2-0-title"/>
          <p:cNvSpPr/>
          <p:nvPr/>
        </p:nvSpPr>
        <p:spPr>
          <a:xfrm>
            <a:off x="694944" y="3280156"/>
            <a:ext cx="501700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交接依赖经验</a:t>
            </a:r>
            <a:endParaRPr lang="zh-CN" sz="2000" dirty="0"/>
          </a:p>
        </p:txBody>
      </p:sp>
      <p:sp>
        <p:nvSpPr>
          <p:cNvPr id="17" name="pair-2-0-body"/>
          <p:cNvSpPr/>
          <p:nvPr/>
        </p:nvSpPr>
        <p:spPr>
          <a:xfrm>
            <a:off x="694944" y="3757676"/>
            <a:ext cx="501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材料来源与责任分工不够清晰。</a:t>
            </a:r>
            <a:endParaRPr lang="zh-CN" sz="1800" dirty="0"/>
          </a:p>
        </p:txBody>
      </p:sp>
      <p:sp>
        <p:nvSpPr>
          <p:cNvPr id="18" name="pair-2-1-title"/>
          <p:cNvSpPr/>
          <p:nvPr/>
        </p:nvSpPr>
        <p:spPr>
          <a:xfrm>
            <a:off x="6480048" y="3280156"/>
            <a:ext cx="5017008" cy="3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2000" b="1" dirty="0">
                <a:solidFill>
                  <a:srgbClr val="FF7829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建立共用清单</a:t>
            </a:r>
            <a:endParaRPr lang="zh-CN" sz="2000" dirty="0"/>
          </a:p>
        </p:txBody>
      </p:sp>
      <p:sp>
        <p:nvSpPr>
          <p:cNvPr id="19" name="pair-2-1-body"/>
          <p:cNvSpPr/>
          <p:nvPr/>
        </p:nvSpPr>
        <p:spPr>
          <a:xfrm>
            <a:off x="6480048" y="3757676"/>
            <a:ext cx="501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24364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逐项注明材料、主责、来源与完成时间。</a:t>
            </a:r>
            <a:endParaRPr lang="zh-CN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4580636"/>
            <a:ext cx="11058144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明确日期、责任与阶段交付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07</a:t>
            </a:r>
            <a:endParaRPr lang="zh-CN" sz="1000" dirty="0"/>
          </a:p>
        </p:txBody>
      </p:sp>
      <p:sp>
        <p:nvSpPr>
          <p:cNvPr id="7" name="Shape 5"/>
          <p:cNvSpPr/>
          <p:nvPr/>
        </p:nvSpPr>
        <p:spPr>
          <a:xfrm>
            <a:off x="3767328" y="1337564"/>
            <a:ext cx="7857744" cy="0"/>
          </a:xfrm>
          <a:prstGeom prst="line">
            <a:avLst/>
          </a:prstGeom>
          <a:noFill/>
          <a:ln w="7620">
            <a:solidFill>
              <a:srgbClr val="0A579B"/>
            </a:solidFill>
            <a:prstDash val="solid"/>
          </a:ln>
        </p:spPr>
      </p:sp>
      <p:sp>
        <p:nvSpPr>
          <p:cNvPr id="8" name="range-start"/>
          <p:cNvSpPr/>
          <p:nvPr/>
        </p:nvSpPr>
        <p:spPr>
          <a:xfrm>
            <a:off x="3767328" y="999236"/>
            <a:ext cx="392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2026-11-01</a:t>
            </a:r>
            <a:endParaRPr lang="zh-CN" sz="1200" dirty="0"/>
          </a:p>
        </p:txBody>
      </p:sp>
      <p:sp>
        <p:nvSpPr>
          <p:cNvPr id="9" name="range-end"/>
          <p:cNvSpPr/>
          <p:nvPr/>
        </p:nvSpPr>
        <p:spPr>
          <a:xfrm>
            <a:off x="7696200" y="999236"/>
            <a:ext cx="392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2026-11-28</a:t>
            </a:r>
            <a:endParaRPr lang="zh-CN" sz="1200" dirty="0"/>
          </a:p>
        </p:txBody>
      </p:sp>
      <p:sp>
        <p:nvSpPr>
          <p:cNvPr id="10" name="Shape 8"/>
          <p:cNvSpPr/>
          <p:nvPr/>
        </p:nvSpPr>
        <p:spPr>
          <a:xfrm>
            <a:off x="3767328" y="1337564"/>
            <a:ext cx="0" cy="73152"/>
          </a:xfrm>
          <a:prstGeom prst="line">
            <a:avLst/>
          </a:prstGeom>
          <a:noFill/>
          <a:ln w="7620">
            <a:solidFill>
              <a:srgbClr val="0A57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31764" y="1337564"/>
            <a:ext cx="0" cy="73152"/>
          </a:xfrm>
          <a:prstGeom prst="line">
            <a:avLst/>
          </a:prstGeom>
          <a:noFill/>
          <a:ln w="7620">
            <a:solidFill>
              <a:srgbClr val="0A57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96200" y="1337564"/>
            <a:ext cx="0" cy="73152"/>
          </a:xfrm>
          <a:prstGeom prst="line">
            <a:avLst/>
          </a:prstGeom>
          <a:noFill/>
          <a:ln w="7620">
            <a:solidFill>
              <a:srgbClr val="0A57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60636" y="1337564"/>
            <a:ext cx="0" cy="73152"/>
          </a:xfrm>
          <a:prstGeom prst="line">
            <a:avLst/>
          </a:prstGeom>
          <a:noFill/>
          <a:ln w="7620">
            <a:solidFill>
              <a:srgbClr val="0A57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25072" y="1337564"/>
            <a:ext cx="0" cy="73152"/>
          </a:xfrm>
          <a:prstGeom prst="line">
            <a:avLst/>
          </a:prstGeom>
          <a:noFill/>
          <a:ln w="7620">
            <a:solidFill>
              <a:srgbClr val="0A579B"/>
            </a:solidFill>
            <a:prstDash val="solid"/>
          </a:ln>
        </p:spPr>
      </p:sp>
      <p:sp>
        <p:nvSpPr>
          <p:cNvPr id="15" name="task-1-title"/>
          <p:cNvSpPr/>
          <p:nvPr/>
        </p:nvSpPr>
        <p:spPr>
          <a:xfrm>
            <a:off x="566928" y="1648460"/>
            <a:ext cx="28803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整理需求</a:t>
            </a:r>
            <a:endParaRPr lang="zh-CN" sz="1800" dirty="0"/>
          </a:p>
        </p:txBody>
      </p:sp>
      <p:sp>
        <p:nvSpPr>
          <p:cNvPr id="16" name="task-1-meta"/>
          <p:cNvSpPr/>
          <p:nvPr/>
        </p:nvSpPr>
        <p:spPr>
          <a:xfrm>
            <a:off x="566928" y="2075942"/>
            <a:ext cx="28803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需求小组 · 需求记录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3767328" y="1803908"/>
            <a:ext cx="1455138" cy="219456"/>
          </a:xfrm>
          <a:prstGeom prst="rect">
            <a:avLst/>
          </a:prstGeom>
          <a:solidFill>
            <a:srgbClr val="0A579B"/>
          </a:solidFill>
          <a:ln w="12700">
            <a:solidFill>
              <a:srgbClr val="0A579B">
                <a:alpha val="0"/>
              </a:srgbClr>
            </a:solidFill>
            <a:prstDash val="solid"/>
          </a:ln>
        </p:spPr>
      </p:sp>
      <p:sp>
        <p:nvSpPr>
          <p:cNvPr id="18" name="task-1-dates"/>
          <p:cNvSpPr/>
          <p:nvPr/>
        </p:nvSpPr>
        <p:spPr>
          <a:xfrm>
            <a:off x="3767328" y="2069084"/>
            <a:ext cx="7857744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2026-11-01 — 2026-11-06</a:t>
            </a:r>
            <a:endParaRPr lang="zh-CN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2558288"/>
            <a:ext cx="11058144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  <p:sp>
        <p:nvSpPr>
          <p:cNvPr id="20" name="task-2-title"/>
          <p:cNvSpPr/>
          <p:nvPr/>
        </p:nvSpPr>
        <p:spPr>
          <a:xfrm>
            <a:off x="566928" y="2631440"/>
            <a:ext cx="28803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开展活动</a:t>
            </a:r>
            <a:endParaRPr lang="zh-CN" sz="1800" dirty="0"/>
          </a:p>
        </p:txBody>
      </p:sp>
      <p:sp>
        <p:nvSpPr>
          <p:cNvPr id="21" name="task-2-meta"/>
          <p:cNvSpPr/>
          <p:nvPr/>
        </p:nvSpPr>
        <p:spPr>
          <a:xfrm>
            <a:off x="566928" y="3058922"/>
            <a:ext cx="28803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服务小组 · 活动记录</a:t>
            </a:r>
            <a:endParaRPr lang="zh-CN" sz="1800" dirty="0"/>
          </a:p>
        </p:txBody>
      </p:sp>
      <p:sp>
        <p:nvSpPr>
          <p:cNvPr id="22" name="Shape 20"/>
          <p:cNvSpPr/>
          <p:nvPr/>
        </p:nvSpPr>
        <p:spPr>
          <a:xfrm>
            <a:off x="5513493" y="2786888"/>
            <a:ext cx="3783358" cy="219456"/>
          </a:xfrm>
          <a:prstGeom prst="rect">
            <a:avLst/>
          </a:prstGeom>
          <a:solidFill>
            <a:srgbClr val="0A579B"/>
          </a:solidFill>
          <a:ln w="12700">
            <a:solidFill>
              <a:srgbClr val="0A579B">
                <a:alpha val="0"/>
              </a:srgbClr>
            </a:solidFill>
            <a:prstDash val="solid"/>
          </a:ln>
        </p:spPr>
      </p:sp>
      <p:sp>
        <p:nvSpPr>
          <p:cNvPr id="23" name="task-2-dates"/>
          <p:cNvSpPr/>
          <p:nvPr/>
        </p:nvSpPr>
        <p:spPr>
          <a:xfrm>
            <a:off x="3767328" y="3052064"/>
            <a:ext cx="7857744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2026-11-07 — 2026-11-20</a:t>
            </a:r>
            <a:endParaRPr lang="zh-CN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541268"/>
            <a:ext cx="11058144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  <p:sp>
        <p:nvSpPr>
          <p:cNvPr id="25" name="task-3-title"/>
          <p:cNvSpPr/>
          <p:nvPr/>
        </p:nvSpPr>
        <p:spPr>
          <a:xfrm>
            <a:off x="566928" y="3614420"/>
            <a:ext cx="28803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复盘调整</a:t>
            </a:r>
            <a:endParaRPr lang="zh-CN" sz="1800" dirty="0"/>
          </a:p>
        </p:txBody>
      </p:sp>
      <p:sp>
        <p:nvSpPr>
          <p:cNvPr id="26" name="task-3-meta"/>
          <p:cNvSpPr/>
          <p:nvPr/>
        </p:nvSpPr>
        <p:spPr>
          <a:xfrm>
            <a:off x="566928" y="4041902"/>
            <a:ext cx="28803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复盘小组 · 调整清单</a:t>
            </a:r>
            <a:endParaRPr lang="zh-CN" sz="1800" dirty="0"/>
          </a:p>
        </p:txBody>
      </p:sp>
      <p:sp>
        <p:nvSpPr>
          <p:cNvPr id="27" name="Shape 25"/>
          <p:cNvSpPr/>
          <p:nvPr/>
        </p:nvSpPr>
        <p:spPr>
          <a:xfrm>
            <a:off x="9587879" y="3769868"/>
            <a:ext cx="2037193" cy="219456"/>
          </a:xfrm>
          <a:prstGeom prst="rect">
            <a:avLst/>
          </a:prstGeom>
          <a:solidFill>
            <a:srgbClr val="0A579B"/>
          </a:solidFill>
          <a:ln w="12700">
            <a:solidFill>
              <a:srgbClr val="0A579B">
                <a:alpha val="0"/>
              </a:srgbClr>
            </a:solidFill>
            <a:prstDash val="solid"/>
          </a:ln>
        </p:spPr>
      </p:sp>
      <p:sp>
        <p:nvSpPr>
          <p:cNvPr id="28" name="task-3-dates"/>
          <p:cNvSpPr/>
          <p:nvPr/>
        </p:nvSpPr>
        <p:spPr>
          <a:xfrm>
            <a:off x="3767328" y="4035044"/>
            <a:ext cx="7857744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2026-11-21 — 2026-11-28</a:t>
            </a:r>
            <a:endParaRPr lang="zh-CN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524248"/>
            <a:ext cx="11058144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用数据检查试点结果，再决定扩展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08</a:t>
            </a:r>
            <a:endParaRPr lang="zh-CN" sz="1000" dirty="0"/>
          </a:p>
        </p:txBody>
      </p:sp>
      <p:sp>
        <p:nvSpPr>
          <p:cNvPr id="7" name="brief-kpi-0-label"/>
          <p:cNvSpPr/>
          <p:nvPr/>
        </p:nvSpPr>
        <p:spPr>
          <a:xfrm>
            <a:off x="566928" y="1063244"/>
            <a:ext cx="534619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四周参与人次</a:t>
            </a:r>
            <a:endParaRPr lang="zh-CN" sz="1800" dirty="0"/>
          </a:p>
        </p:txBody>
      </p:sp>
      <p:sp>
        <p:nvSpPr>
          <p:cNvPr id="8" name="brief-kpi-0-value"/>
          <p:cNvSpPr/>
          <p:nvPr/>
        </p:nvSpPr>
        <p:spPr>
          <a:xfrm>
            <a:off x="566928" y="1518158"/>
            <a:ext cx="534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6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454</a:t>
            </a:r>
            <a:endParaRPr lang="zh-CN" sz="3600" dirty="0"/>
          </a:p>
        </p:txBody>
      </p:sp>
      <p:sp>
        <p:nvSpPr>
          <p:cNvPr id="9" name="brief-kpi-1-label"/>
          <p:cNvSpPr/>
          <p:nvPr/>
        </p:nvSpPr>
        <p:spPr>
          <a:xfrm>
            <a:off x="6278880" y="1063244"/>
            <a:ext cx="534619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rgbClr val="5A6575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四周举办场次</a:t>
            </a:r>
            <a:endParaRPr lang="zh-CN" sz="1800" dirty="0"/>
          </a:p>
        </p:txBody>
      </p:sp>
      <p:sp>
        <p:nvSpPr>
          <p:cNvPr id="10" name="brief-kpi-1-value"/>
          <p:cNvSpPr/>
          <p:nvPr/>
        </p:nvSpPr>
        <p:spPr>
          <a:xfrm>
            <a:off x="6278880" y="1518158"/>
            <a:ext cx="534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600" b="1" dirty="0">
                <a:solidFill>
                  <a:srgbClr val="063F8E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12</a:t>
            </a:r>
            <a:endParaRPr lang="zh-CN" sz="3600" dirty="0"/>
          </a:p>
        </p:txBody>
      </p:sp>
      <p:sp>
        <p:nvSpPr>
          <p:cNvPr id="11" name="Shape 9"/>
          <p:cNvSpPr/>
          <p:nvPr/>
        </p:nvSpPr>
        <p:spPr>
          <a:xfrm>
            <a:off x="566928" y="2368550"/>
            <a:ext cx="11058144" cy="0"/>
          </a:xfrm>
          <a:prstGeom prst="line">
            <a:avLst/>
          </a:prstGeom>
          <a:noFill/>
          <a:ln w="7620">
            <a:solidFill>
              <a:srgbClr val="C9D3E4"/>
            </a:solidFill>
            <a:prstDash val="solid"/>
          </a:ln>
        </p:spPr>
      </p:sp>
      <p:graphicFrame>
        <p:nvGraphicFramePr>
          <p:cNvPr id="12" name="brief-native-chart" descr=""/>
          <p:cNvGraphicFramePr/>
          <p:nvPr/>
        </p:nvGraphicFramePr>
        <p:xfrm>
          <a:off x="566928" y="2752598"/>
          <a:ext cx="11058144" cy="33007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310896"/>
            <a:ext cx="110550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rgbClr val="0A579B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共用口径比较三类活动</a:t>
            </a:r>
            <a:endParaRPr lang="zh-CN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26084"/>
            <a:ext cx="11055096" cy="0"/>
          </a:xfrm>
          <a:prstGeom prst="line">
            <a:avLst/>
          </a:prstGeom>
          <a:noFill/>
          <a:ln w="8255">
            <a:solidFill>
              <a:srgbClr val="C9D3E4"/>
            </a:solidFill>
            <a:prstDash val="solid"/>
          </a:ln>
        </p:spPr>
      </p:sp>
      <p:sp>
        <p:nvSpPr>
          <p:cNvPr id="4" name="source"/>
          <p:cNvSpPr/>
          <p:nvPr/>
        </p:nvSpPr>
        <p:spPr>
          <a:xfrm>
            <a:off x="566928" y="627278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所有项目、日期与数值均为虚构演示。</a:t>
            </a:r>
            <a:endParaRPr lang="zh-CN" sz="1100" dirty="0"/>
          </a:p>
        </p:txBody>
      </p:sp>
      <p:sp>
        <p:nvSpPr>
          <p:cNvPr id="5" name="footer"/>
          <p:cNvSpPr/>
          <p:nvPr/>
        </p:nvSpPr>
        <p:spPr>
          <a:xfrm>
            <a:off x="566928" y="662025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 marL="0">
              <a:lnSpc>
                <a:spcPct val="110000"/>
              </a:lnSpc>
              <a:buNone/>
            </a:pPr>
            <a:endParaRPr lang="zh-CN" sz="900" dirty="0"/>
          </a:p>
        </p:txBody>
      </p:sp>
      <p:sp>
        <p:nvSpPr>
          <p:cNvPr id="6" name="page"/>
          <p:cNvSpPr/>
          <p:nvPr/>
        </p:nvSpPr>
        <p:spPr>
          <a:xfrm>
            <a:off x="10469880" y="658368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5A5A5A"/>
                </a:solidFill>
                <a:latin typeface="DengXian" pitchFamily="34" charset="0"/>
                <a:ea typeface="DengXian" pitchFamily="34" charset="-122"/>
                <a:cs typeface="DengXian" pitchFamily="34" charset="-120"/>
              </a:rPr>
              <a:t>09</a:t>
            </a:r>
            <a:endParaRPr lang="zh-CN" sz="1000" dirty="0"/>
          </a:p>
        </p:txBody>
      </p:sp>
      <p:graphicFrame>
        <p:nvGraphicFramePr>
          <p:cNvPr id="10" name="comparison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63244"/>
          <a:ext cx="1105814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37408"/>
                <a:gridCol w="3137408"/>
                <a:gridCol w="3137408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项目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9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共读活动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9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主题分享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9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自由阅读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79B"/>
                    </a:solidFill>
                  </a:tcPr>
                </a:tc>
              </a:tr>
              <a:tr h="592074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组织形式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小组共读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主题交流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自主参与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C"/>
                    </a:solidFill>
                  </a:tcPr>
                </a:tc>
              </a:tr>
              <a:tr h="592074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记录重点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到场与反馈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问题与建议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资源使用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C"/>
                    </a:solidFill>
                  </a:tcPr>
                </a:tc>
              </a:tr>
              <a:tr h="592074"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复盘交付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活动记录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建议清单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4364B"/>
                          </a:solidFill>
                          <a:latin typeface="DengXian" pitchFamily="34" charset="0"/>
                          <a:ea typeface="DengXian" pitchFamily="34" charset="-122"/>
                          <a:cs typeface="DengXian" pitchFamily="34" charset="-120"/>
                        </a:rPr>
                        <a:t>资源清单</a:t>
                      </a:r>
                      <a:endParaRPr lang="en-US" sz="1800" dirty="0">
                        <a:latin typeface="DengXian" charset="0"/>
                        <a:ea typeface="DengXian" charset="0"/>
                        <a:cs typeface="DengXian" charset="0"/>
                      </a:endParaRPr>
                    </a:p>
                  </a:txBody>
                  <a:tcPr marL="128016" marR="128016" marT="128016" marB="128016" anchor="ctr">
                    <a:lnL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"/>
        <a:ea typeface="DengXian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ngXian"/>
        <a:ea typeface="DengXian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社区阅读计划 · 虚构公开示例</dc:title>
  <dc:subject>PptxGenJS Presentation</dc:subject>
  <dc:creator>blue-ib-slides</dc:creator>
  <cp:lastModifiedBy>blue-ib-slides</cp:lastModifiedBy>
  <cp:revision>1</cp:revision>
  <dcterms:created xsi:type="dcterms:W3CDTF">2026-10-28T11:22:10Z</dcterms:created>
  <dcterms:modified xsi:type="dcterms:W3CDTF">2026-10-28T11:22:10Z</dcterms:modified>
</cp:coreProperties>
</file>