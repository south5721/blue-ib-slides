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本期参与人数</c:v>
                </c:pt>
              </c:strCache>
            </c:strRef>
          </c:tx>
          <c:spPr>
            <a:solidFill>
              <a:srgbClr val="3479C9"/>
            </a:solidFill>
            <a:effectLst/>
          </c:spPr>
          <c:invertIfNegative val="0"/>
          <c:dLbls>
            <c:numFmt formatCode="0.0" sourceLinked="0"/>
            <c:txPr>
              <a:bodyPr>
                <a:noAutofit/>
              </a:bodyPr>
              <a:lstStyle/>
              <a:p>
                <a:pPr>
                  <a:defRPr b="0" i="0" strike="noStrike" sz="1200" u="none">
                    <a:solidFill>
                      <a:srgbClr val="111111"/>
                    </a:solidFill>
                    <a:latin typeface="DengXian"/>
                    <a:ea typeface="DengXi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A社区</c:v>
                  </c:pt>
                  <c:pt idx="1">
                    <c:v>B社区</c:v>
                  </c:pt>
                  <c:pt idx="2">
                    <c:v>C社区</c:v>
                  </c:pt>
                  <c:pt idx="3">
                    <c:v>D社区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</c:v>
                </c:pt>
                <c:pt idx="1">
                  <c:v>123</c:v>
                </c:pt>
                <c:pt idx="2">
                  <c:v>97</c:v>
                </c:pt>
                <c:pt idx="3">
                  <c:v>148</c:v>
                </c:pt>
              </c:numCache>
            </c:numRef>
          </c:val>
        </c:ser>
        <c:dLbls>
          <c:numFmt formatCode="0.0" sourceLinked="0"/>
          <c:txPr>
            <a:bodyPr>
              <a:noAutofit/>
            </a:bodyPr>
            <a:lstStyle/>
            <a:p>
              <a:pPr>
                <a:defRPr b="0" i="0" strike="noStrike" sz="1200" u="none">
                  <a:solidFill>
                    <a:srgbClr val="111111"/>
                  </a:solidFill>
                  <a:latin typeface="DengXian"/>
                  <a:ea typeface="DengXi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>
            <a:noAutofit/>
          </a:bodyPr>
          <a:lstStyle/>
          <a:p>
            <a:pPr>
              <a:defRPr sz="1400" b="0" i="0" u="none" strike="noStrike">
                <a:solidFill>
                  <a:srgbClr val="000000"/>
                </a:solidFill>
                <a:latin typeface="DengXian"/>
                <a:ea typeface="DengXi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AE2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>
            <a:noAutofit/>
          </a:bodyPr>
          <a:lstStyle/>
          <a:p>
            <a:pPr>
              <a:defRPr sz="1100" b="0" i="0" u="none" strike="noStrike">
                <a:solidFill>
                  <a:srgbClr val="000000"/>
                </a:solidFill>
                <a:latin typeface="DengXian"/>
                <a:ea typeface="DengXi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实际参与指数</c:v>
                </c:pt>
              </c:strCache>
            </c:strRef>
          </c:tx>
          <c:spPr>
            <a:solidFill>
              <a:srgbClr val="3479C9"/>
            </a:solidFill>
            <a:ln w="19050" cap="flat">
              <a:solidFill>
                <a:srgbClr val="3479C9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>
                <a:noAutofit/>
              </a:bodyPr>
              <a:lstStyle/>
              <a:p>
                <a:pPr>
                  <a:defRPr b="0" i="0" strike="noStrike" sz="1200" u="none">
                    <a:solidFill>
                      <a:srgbClr val="111111"/>
                    </a:solidFill>
                    <a:latin typeface="DengXian"/>
                    <a:ea typeface="DengXian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479C9"/>
              </a:solidFill>
              <a:ln w="9525" cap="flat">
                <a:solidFill>
                  <a:srgbClr val="3479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第一周</c:v>
                  </c:pt>
                  <c:pt idx="1">
                    <c:v>第二周</c:v>
                  </c:pt>
                  <c:pt idx="2">
                    <c:v>第三周</c:v>
                  </c:pt>
                  <c:pt idx="3">
                    <c:v>第四周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59</c:v>
                </c:pt>
                <c:pt idx="2">
                  <c:v>75</c:v>
                </c:pt>
                <c:pt idx="3">
                  <c:v>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计划参与指数</c:v>
                </c:pt>
              </c:strCache>
            </c:strRef>
          </c:tx>
          <c:spPr>
            <a:solidFill>
              <a:srgbClr val="FF7829"/>
            </a:solidFill>
            <a:ln w="19050" cap="flat">
              <a:solidFill>
                <a:srgbClr val="FF7829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>
                <a:noAutofit/>
              </a:bodyPr>
              <a:lstStyle/>
              <a:p>
                <a:pPr>
                  <a:defRPr b="0" i="0" strike="noStrike" sz="1200" u="none">
                    <a:solidFill>
                      <a:srgbClr val="111111"/>
                    </a:solidFill>
                    <a:latin typeface="DengXian"/>
                    <a:ea typeface="DengXian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7829"/>
              </a:solidFill>
              <a:ln w="9525" cap="flat">
                <a:solidFill>
                  <a:srgbClr val="FF782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第一周</c:v>
                  </c:pt>
                  <c:pt idx="1">
                    <c:v>第二周</c:v>
                  </c:pt>
                  <c:pt idx="2">
                    <c:v>第三周</c:v>
                  </c:pt>
                  <c:pt idx="3">
                    <c:v>第四周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</c:v>
                </c:pt>
                <c:pt idx="1">
                  <c:v>60</c:v>
                </c:pt>
                <c:pt idx="2">
                  <c:v>80</c:v>
                </c:pt>
                <c:pt idx="3">
                  <c:v>100</c:v>
                </c:pt>
              </c:numCache>
            </c:numRef>
          </c:val>
          <c:smooth val="0"/>
        </c:ser>
        <c:dLbls>
          <c:numFmt formatCode="0.0" sourceLinked="0"/>
          <c:txPr>
            <a:bodyPr>
              <a:noAutofit/>
            </a:bodyPr>
            <a:lstStyle/>
            <a:p>
              <a:pPr>
                <a:defRPr b="0" i="0" strike="noStrike" sz="1200" u="none">
                  <a:solidFill>
                    <a:srgbClr val="111111"/>
                  </a:solidFill>
                  <a:latin typeface="DengXian"/>
                  <a:ea typeface="DengXian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>
            <a:noAutofit/>
          </a:bodyPr>
          <a:lstStyle/>
          <a:p>
            <a:pPr>
              <a:defRPr sz="1400" b="0" i="0" u="none" strike="noStrike">
                <a:solidFill>
                  <a:srgbClr val="000000"/>
                </a:solidFill>
                <a:latin typeface="DengXian"/>
                <a:ea typeface="DengXi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12700" cap="flat">
              <a:solidFill>
                <a:srgbClr val="DAE2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>
            <a:noAutofit/>
          </a:bodyPr>
          <a:lstStyle/>
          <a:p>
            <a:pPr>
              <a:defRPr sz="1100" b="0" i="0" u="none" strike="noStrike">
                <a:solidFill>
                  <a:srgbClr val="000000"/>
                </a:solidFill>
                <a:latin typeface="DengXian"/>
                <a:ea typeface="DengXi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>
          <a:noAutofit/>
        </a:bodyPr>
        <a:lstStyle/>
        <a:p>
          <a:pPr>
            <a:defRPr sz="1100">
              <a:latin typeface="DengXian"/>
              <a:cs typeface="DengXian"/>
              <a:ea typeface="DengXi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项目、机构与数值均为虚构，仅用于布局验证。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项目、机构与数值均为虚构，仅用于布局验证。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项目、机构与数值均为虚构，仅用于布局验证。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项目、机构与数值均为虚构，仅用于布局验证。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项目、机构与数值均为虚构，仅用于布局验证。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项目、机构与数值均为虚构，仅用于布局验证。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项目、机构与数值均为虚构，仅用于布局验证。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项目、机构与数值均为虚构，仅用于布局验证。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项目、机构与数值均为虚构，仅用于布局验证。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项目、机构与数值均为虚构，仅用于布局验证。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DengXian"/>
          <a:ea typeface="DengXian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DengXian"/>
          <a:ea typeface="DengXian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DengXian"/>
          <a:ea typeface="DengXian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DengXian"/>
          <a:ea typeface="DengXian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DengXian"/>
          <a:ea typeface="DengXian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DengXian"/>
          <a:ea typeface="DengXian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engXian"/>
          <a:ea typeface="DengXian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engXian"/>
          <a:ea typeface="DengXian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engXian"/>
          <a:ea typeface="DengXian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engXian"/>
          <a:ea typeface="DengXian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93776" y="292608"/>
            <a:ext cx="11064240" cy="5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3200" dirty="0">
                <a:solidFill>
                  <a:srgbClr val="2F2F2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三项共同行动，让阅读服务形成可检查的结果</a:t>
            </a:r>
            <a:endParaRPr lang="zh-CN" sz="3200" dirty="0"/>
          </a:p>
        </p:txBody>
      </p:sp>
      <p:sp>
        <p:nvSpPr>
          <p:cNvPr id="3" name="banner"/>
          <p:cNvSpPr/>
          <p:nvPr/>
        </p:nvSpPr>
        <p:spPr>
          <a:xfrm>
            <a:off x="0" y="1152144"/>
            <a:ext cx="12192000" cy="621792"/>
          </a:xfrm>
          <a:prstGeom prst="rect">
            <a:avLst/>
          </a:prstGeom>
          <a:solidFill>
            <a:srgbClr val="2365B5"/>
          </a:solidFill>
          <a:ln w="0">
            <a:solidFill>
              <a:srgbClr val="2365B5"/>
            </a:solidFill>
          </a:ln>
        </p:spPr>
      </p:sp>
      <p:sp>
        <p:nvSpPr>
          <p:cNvPr id="4" name="subtitle"/>
          <p:cNvSpPr/>
          <p:nvPr/>
        </p:nvSpPr>
        <p:spPr>
          <a:xfrm>
            <a:off x="530352" y="1310894"/>
            <a:ext cx="11155680" cy="304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16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围绕需求、执行和复盘建立统一工作方法</a:t>
            </a:r>
            <a:endParaRPr lang="zh-CN" sz="1600" dirty="0"/>
          </a:p>
        </p:txBody>
      </p:sp>
      <p:sp>
        <p:nvSpPr>
          <p:cNvPr id="5" name="card-0"/>
          <p:cNvSpPr/>
          <p:nvPr/>
        </p:nvSpPr>
        <p:spPr>
          <a:xfrm>
            <a:off x="393192" y="2395728"/>
            <a:ext cx="3493008" cy="3657600"/>
          </a:xfrm>
          <a:prstGeom prst="roundRect">
            <a:avLst>
              <a:gd name="adj" fmla="val 4188"/>
            </a:avLst>
          </a:prstGeom>
          <a:gradFill rotWithShape="1">
            <a:gsLst>
              <a:gs pos="0">
                <a:srgbClr val="FAFCFF"/>
              </a:gs>
              <a:gs pos="100000">
                <a:srgbClr val="EAF1FA"/>
              </a:gs>
            </a:gsLst>
            <a:lin ang="5400000" scaled="1"/>
          </a:gradFill>
          <a:ln w="9000">
            <a:solidFill>
              <a:srgbClr val="BCD0EC"/>
            </a:solidFill>
          </a:ln>
          <a:effectLst>
            <a:outerShdw blurRad="180000" dist="50000" dir="5400000" algn="ctr" rotWithShape="0">
              <a:srgbClr val="1F4A86">
                <a:alpha val="14000"/>
              </a:srgbClr>
            </a:outerShdw>
          </a:effectLst>
        </p:spPr>
      </p:sp>
      <p:sp>
        <p:nvSpPr>
          <p:cNvPr id="6" name="label-0"/>
          <p:cNvSpPr/>
          <p:nvPr/>
        </p:nvSpPr>
        <p:spPr>
          <a:xfrm>
            <a:off x="1252728" y="2651760"/>
            <a:ext cx="1773936" cy="448056"/>
          </a:xfrm>
          <a:prstGeom prst="roundRect">
            <a:avLst>
              <a:gd name="adj" fmla="val 50000"/>
            </a:avLst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7" name="module-1-heading"/>
          <p:cNvSpPr/>
          <p:nvPr/>
        </p:nvSpPr>
        <p:spPr>
          <a:xfrm>
            <a:off x="1307592" y="272491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共识</a:t>
            </a:r>
            <a:endParaRPr lang="zh-CN" sz="2000" dirty="0"/>
          </a:p>
        </p:txBody>
      </p:sp>
      <p:sp>
        <p:nvSpPr>
          <p:cNvPr id="8" name="Shape 6"/>
          <p:cNvSpPr/>
          <p:nvPr/>
        </p:nvSpPr>
        <p:spPr>
          <a:xfrm rot="5400000">
            <a:off x="2075688" y="3035808"/>
            <a:ext cx="146304" cy="347472"/>
          </a:xfrm>
          <a:prstGeom prst="chevron">
            <a:avLst/>
          </a:prstGeom>
          <a:solidFill>
            <a:srgbClr val="759DCF"/>
          </a:solidFill>
          <a:ln w="12700">
            <a:solidFill>
              <a:srgbClr val="759DCF"/>
            </a:solidFill>
            <a:prstDash val="solid"/>
          </a:ln>
        </p:spPr>
      </p:sp>
      <p:sp>
        <p:nvSpPr>
          <p:cNvPr id="9" name="module-1-action"/>
          <p:cNvSpPr/>
          <p:nvPr/>
        </p:nvSpPr>
        <p:spPr>
          <a:xfrm>
            <a:off x="576072" y="3355848"/>
            <a:ext cx="3127248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统一服务目标</a:t>
            </a:r>
            <a:endParaRPr lang="zh-CN" sz="2000" dirty="0"/>
          </a:p>
        </p:txBody>
      </p:sp>
      <p:sp>
        <p:nvSpPr>
          <p:cNvPr id="10" name="Shape 8"/>
          <p:cNvSpPr/>
          <p:nvPr/>
        </p:nvSpPr>
        <p:spPr>
          <a:xfrm>
            <a:off x="832104" y="3833368"/>
            <a:ext cx="2615184" cy="0"/>
          </a:xfrm>
          <a:prstGeom prst="line">
            <a:avLst/>
          </a:prstGeom>
          <a:noFill/>
          <a:ln w="8890">
            <a:solidFill>
              <a:srgbClr val="C1D4EE"/>
            </a:solidFill>
            <a:prstDash val="solid"/>
          </a:ln>
        </p:spPr>
      </p:sp>
      <p:sp>
        <p:nvSpPr>
          <p:cNvPr id="11" name="module-1-body"/>
          <p:cNvSpPr/>
          <p:nvPr/>
        </p:nvSpPr>
        <p:spPr>
          <a:xfrm>
            <a:off x="658368" y="3997960"/>
            <a:ext cx="2999232" cy="1963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ts val="27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记录参与需求与活动限制。</a:t>
            </a:r>
            <a:endParaRPr lang="zh-CN" sz="1800" dirty="0"/>
          </a:p>
          <a:p>
            <a:pPr indent="0" marL="0">
              <a:lnSpc>
                <a:spcPts val="27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约定服务对象和检查标准。</a:t>
            </a:r>
            <a:endParaRPr lang="zh-CN" sz="1800" dirty="0"/>
          </a:p>
        </p:txBody>
      </p:sp>
      <p:sp>
        <p:nvSpPr>
          <p:cNvPr id="12" name="card-bullet-0-0"/>
          <p:cNvSpPr/>
          <p:nvPr/>
        </p:nvSpPr>
        <p:spPr>
          <a:xfrm>
            <a:off x="539496" y="4080256"/>
            <a:ext cx="59436" cy="59436"/>
          </a:xfrm>
          <a:prstGeom prst="ellipse">
            <a:avLst/>
          </a:prstGeom>
          <a:solidFill>
            <a:srgbClr val="6492C7"/>
          </a:solidFill>
          <a:ln w="8890">
            <a:solidFill>
              <a:srgbClr val="6492C7"/>
            </a:solidFill>
            <a:prstDash val="solid"/>
          </a:ln>
        </p:spPr>
      </p:sp>
      <p:sp>
        <p:nvSpPr>
          <p:cNvPr id="13" name="card-bullet-0-1"/>
          <p:cNvSpPr/>
          <p:nvPr/>
        </p:nvSpPr>
        <p:spPr>
          <a:xfrm>
            <a:off x="539496" y="4423156"/>
            <a:ext cx="59436" cy="59436"/>
          </a:xfrm>
          <a:prstGeom prst="ellipse">
            <a:avLst/>
          </a:prstGeom>
          <a:solidFill>
            <a:srgbClr val="6492C7"/>
          </a:solidFill>
          <a:ln w="8890">
            <a:solidFill>
              <a:srgbClr val="6492C7"/>
            </a:solidFill>
            <a:prstDash val="solid"/>
          </a:ln>
        </p:spPr>
      </p:sp>
      <p:sp>
        <p:nvSpPr>
          <p:cNvPr id="14" name="card-1"/>
          <p:cNvSpPr/>
          <p:nvPr/>
        </p:nvSpPr>
        <p:spPr>
          <a:xfrm>
            <a:off x="4306824" y="2395728"/>
            <a:ext cx="3493008" cy="3657600"/>
          </a:xfrm>
          <a:prstGeom prst="roundRect">
            <a:avLst>
              <a:gd name="adj" fmla="val 4188"/>
            </a:avLst>
          </a:prstGeom>
          <a:gradFill rotWithShape="1">
            <a:gsLst>
              <a:gs pos="0">
                <a:srgbClr val="FAFCFF"/>
              </a:gs>
              <a:gs pos="100000">
                <a:srgbClr val="EAF1FA"/>
              </a:gs>
            </a:gsLst>
            <a:lin ang="5400000" scaled="1"/>
          </a:gradFill>
          <a:ln w="9000">
            <a:solidFill>
              <a:srgbClr val="BCD0EC"/>
            </a:solidFill>
          </a:ln>
          <a:effectLst>
            <a:outerShdw blurRad="180000" dist="50000" dir="5400000" algn="ctr" rotWithShape="0">
              <a:srgbClr val="1F4A86">
                <a:alpha val="14000"/>
              </a:srgbClr>
            </a:outerShdw>
          </a:effectLst>
        </p:spPr>
      </p:sp>
      <p:sp>
        <p:nvSpPr>
          <p:cNvPr id="15" name="label-1"/>
          <p:cNvSpPr/>
          <p:nvPr/>
        </p:nvSpPr>
        <p:spPr>
          <a:xfrm>
            <a:off x="5166360" y="2651760"/>
            <a:ext cx="1773936" cy="448056"/>
          </a:xfrm>
          <a:prstGeom prst="roundRect">
            <a:avLst>
              <a:gd name="adj" fmla="val 50000"/>
            </a:avLst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16" name="module-2-heading"/>
          <p:cNvSpPr/>
          <p:nvPr/>
        </p:nvSpPr>
        <p:spPr>
          <a:xfrm>
            <a:off x="5221224" y="272491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协作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989320" y="3035808"/>
            <a:ext cx="146304" cy="347472"/>
          </a:xfrm>
          <a:prstGeom prst="chevron">
            <a:avLst/>
          </a:prstGeom>
          <a:solidFill>
            <a:srgbClr val="759DCF"/>
          </a:solidFill>
          <a:ln w="12700">
            <a:solidFill>
              <a:srgbClr val="759DCF"/>
            </a:solidFill>
            <a:prstDash val="solid"/>
          </a:ln>
        </p:spPr>
      </p:sp>
      <p:sp>
        <p:nvSpPr>
          <p:cNvPr id="18" name="module-2-action"/>
          <p:cNvSpPr/>
          <p:nvPr/>
        </p:nvSpPr>
        <p:spPr>
          <a:xfrm>
            <a:off x="4489704" y="3355848"/>
            <a:ext cx="3127248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落实任务分工</a:t>
            </a:r>
            <a:endParaRPr lang="zh-CN" sz="2000" dirty="0"/>
          </a:p>
        </p:txBody>
      </p:sp>
      <p:sp>
        <p:nvSpPr>
          <p:cNvPr id="19" name="Shape 17"/>
          <p:cNvSpPr/>
          <p:nvPr/>
        </p:nvSpPr>
        <p:spPr>
          <a:xfrm>
            <a:off x="4745736" y="3833368"/>
            <a:ext cx="2615184" cy="0"/>
          </a:xfrm>
          <a:prstGeom prst="line">
            <a:avLst/>
          </a:prstGeom>
          <a:noFill/>
          <a:ln w="8890">
            <a:solidFill>
              <a:srgbClr val="C1D4EE"/>
            </a:solidFill>
            <a:prstDash val="solid"/>
          </a:ln>
        </p:spPr>
      </p:sp>
      <p:sp>
        <p:nvSpPr>
          <p:cNvPr id="20" name="module-2-body"/>
          <p:cNvSpPr/>
          <p:nvPr/>
        </p:nvSpPr>
        <p:spPr>
          <a:xfrm>
            <a:off x="4572000" y="3997960"/>
            <a:ext cx="2999232" cy="1963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ts val="27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明确准备清单与责任分工。</a:t>
            </a:r>
            <a:endParaRPr lang="zh-CN" sz="1800" dirty="0"/>
          </a:p>
          <a:p>
            <a:pPr indent="0" marL="0">
              <a:lnSpc>
                <a:spcPts val="27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保留每次执行的过程记录。</a:t>
            </a:r>
            <a:endParaRPr lang="zh-CN" sz="1800" dirty="0"/>
          </a:p>
        </p:txBody>
      </p:sp>
      <p:sp>
        <p:nvSpPr>
          <p:cNvPr id="21" name="card-bullet-1-0"/>
          <p:cNvSpPr/>
          <p:nvPr/>
        </p:nvSpPr>
        <p:spPr>
          <a:xfrm>
            <a:off x="4453128" y="4080256"/>
            <a:ext cx="59436" cy="59436"/>
          </a:xfrm>
          <a:prstGeom prst="ellipse">
            <a:avLst/>
          </a:prstGeom>
          <a:solidFill>
            <a:srgbClr val="6492C7"/>
          </a:solidFill>
          <a:ln w="8890">
            <a:solidFill>
              <a:srgbClr val="6492C7"/>
            </a:solidFill>
            <a:prstDash val="solid"/>
          </a:ln>
        </p:spPr>
      </p:sp>
      <p:sp>
        <p:nvSpPr>
          <p:cNvPr id="22" name="card-bullet-1-1"/>
          <p:cNvSpPr/>
          <p:nvPr/>
        </p:nvSpPr>
        <p:spPr>
          <a:xfrm>
            <a:off x="4453128" y="4423156"/>
            <a:ext cx="59436" cy="59436"/>
          </a:xfrm>
          <a:prstGeom prst="ellipse">
            <a:avLst/>
          </a:prstGeom>
          <a:solidFill>
            <a:srgbClr val="6492C7"/>
          </a:solidFill>
          <a:ln w="8890">
            <a:solidFill>
              <a:srgbClr val="6492C7"/>
            </a:solidFill>
            <a:prstDash val="solid"/>
          </a:ln>
        </p:spPr>
      </p:sp>
      <p:sp>
        <p:nvSpPr>
          <p:cNvPr id="23" name="card-2"/>
          <p:cNvSpPr/>
          <p:nvPr/>
        </p:nvSpPr>
        <p:spPr>
          <a:xfrm>
            <a:off x="8220456" y="2395728"/>
            <a:ext cx="3493008" cy="3657600"/>
          </a:xfrm>
          <a:prstGeom prst="roundRect">
            <a:avLst>
              <a:gd name="adj" fmla="val 4188"/>
            </a:avLst>
          </a:prstGeom>
          <a:gradFill rotWithShape="1">
            <a:gsLst>
              <a:gs pos="0">
                <a:srgbClr val="FAFCFF"/>
              </a:gs>
              <a:gs pos="100000">
                <a:srgbClr val="EAF1FA"/>
              </a:gs>
            </a:gsLst>
            <a:lin ang="5400000" scaled="1"/>
          </a:gradFill>
          <a:ln w="9000">
            <a:solidFill>
              <a:srgbClr val="BCD0EC"/>
            </a:solidFill>
          </a:ln>
          <a:effectLst>
            <a:outerShdw blurRad="180000" dist="50000" dir="5400000" algn="ctr" rotWithShape="0">
              <a:srgbClr val="1F4A86">
                <a:alpha val="14000"/>
              </a:srgbClr>
            </a:outerShdw>
          </a:effectLst>
        </p:spPr>
      </p:sp>
      <p:sp>
        <p:nvSpPr>
          <p:cNvPr id="24" name="label-2"/>
          <p:cNvSpPr/>
          <p:nvPr/>
        </p:nvSpPr>
        <p:spPr>
          <a:xfrm>
            <a:off x="9079992" y="2651760"/>
            <a:ext cx="1773936" cy="448056"/>
          </a:xfrm>
          <a:prstGeom prst="roundRect">
            <a:avLst>
              <a:gd name="adj" fmla="val 50000"/>
            </a:avLst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25" name="module-3-heading"/>
          <p:cNvSpPr/>
          <p:nvPr/>
        </p:nvSpPr>
        <p:spPr>
          <a:xfrm>
            <a:off x="9134856" y="272491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复盘</a:t>
            </a:r>
            <a:endParaRPr lang="zh-CN" sz="2000" dirty="0"/>
          </a:p>
        </p:txBody>
      </p:sp>
      <p:sp>
        <p:nvSpPr>
          <p:cNvPr id="26" name="Shape 24"/>
          <p:cNvSpPr/>
          <p:nvPr/>
        </p:nvSpPr>
        <p:spPr>
          <a:xfrm rot="5400000">
            <a:off x="9902952" y="3035808"/>
            <a:ext cx="146304" cy="347472"/>
          </a:xfrm>
          <a:prstGeom prst="chevron">
            <a:avLst/>
          </a:prstGeom>
          <a:solidFill>
            <a:srgbClr val="759DCF"/>
          </a:solidFill>
          <a:ln w="12700">
            <a:solidFill>
              <a:srgbClr val="759DCF"/>
            </a:solidFill>
            <a:prstDash val="solid"/>
          </a:ln>
        </p:spPr>
      </p:sp>
      <p:sp>
        <p:nvSpPr>
          <p:cNvPr id="27" name="module-3-action"/>
          <p:cNvSpPr/>
          <p:nvPr/>
        </p:nvSpPr>
        <p:spPr>
          <a:xfrm>
            <a:off x="8403336" y="3355848"/>
            <a:ext cx="3127248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核验实际结果</a:t>
            </a:r>
            <a:endParaRPr lang="zh-CN" sz="2000" dirty="0"/>
          </a:p>
        </p:txBody>
      </p:sp>
      <p:sp>
        <p:nvSpPr>
          <p:cNvPr id="28" name="Shape 26"/>
          <p:cNvSpPr/>
          <p:nvPr/>
        </p:nvSpPr>
        <p:spPr>
          <a:xfrm>
            <a:off x="8659368" y="3833368"/>
            <a:ext cx="2615184" cy="0"/>
          </a:xfrm>
          <a:prstGeom prst="line">
            <a:avLst/>
          </a:prstGeom>
          <a:noFill/>
          <a:ln w="8890">
            <a:solidFill>
              <a:srgbClr val="C1D4EE"/>
            </a:solidFill>
            <a:prstDash val="solid"/>
          </a:ln>
        </p:spPr>
      </p:sp>
      <p:sp>
        <p:nvSpPr>
          <p:cNvPr id="29" name="module-3-body"/>
          <p:cNvSpPr/>
          <p:nvPr/>
        </p:nvSpPr>
        <p:spPr>
          <a:xfrm>
            <a:off x="8485632" y="3997960"/>
            <a:ext cx="2999232" cy="1963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ts val="27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汇总反馈与指标变化。</a:t>
            </a:r>
            <a:endParaRPr lang="zh-CN" sz="1800" dirty="0"/>
          </a:p>
          <a:p>
            <a:pPr indent="0" marL="0">
              <a:lnSpc>
                <a:spcPts val="27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依据证据决定下一步安排。</a:t>
            </a:r>
            <a:endParaRPr lang="zh-CN" sz="1800" dirty="0"/>
          </a:p>
        </p:txBody>
      </p:sp>
      <p:sp>
        <p:nvSpPr>
          <p:cNvPr id="30" name="card-bullet-2-0"/>
          <p:cNvSpPr/>
          <p:nvPr/>
        </p:nvSpPr>
        <p:spPr>
          <a:xfrm>
            <a:off x="8366760" y="4080256"/>
            <a:ext cx="59436" cy="59436"/>
          </a:xfrm>
          <a:prstGeom prst="ellipse">
            <a:avLst/>
          </a:prstGeom>
          <a:solidFill>
            <a:srgbClr val="6492C7"/>
          </a:solidFill>
          <a:ln w="8890">
            <a:solidFill>
              <a:srgbClr val="6492C7"/>
            </a:solidFill>
            <a:prstDash val="solid"/>
          </a:ln>
        </p:spPr>
      </p:sp>
      <p:sp>
        <p:nvSpPr>
          <p:cNvPr id="31" name="card-bullet-2-1"/>
          <p:cNvSpPr/>
          <p:nvPr/>
        </p:nvSpPr>
        <p:spPr>
          <a:xfrm>
            <a:off x="8366760" y="4423156"/>
            <a:ext cx="59436" cy="59436"/>
          </a:xfrm>
          <a:prstGeom prst="ellipse">
            <a:avLst/>
          </a:prstGeom>
          <a:solidFill>
            <a:srgbClr val="6492C7"/>
          </a:solidFill>
          <a:ln w="8890">
            <a:solidFill>
              <a:srgbClr val="6492C7"/>
            </a:solidFill>
            <a:prstDash val="solid"/>
          </a:ln>
        </p:spPr>
      </p:sp>
      <p:sp>
        <p:nvSpPr>
          <p:cNvPr id="32" name="source"/>
          <p:cNvSpPr/>
          <p:nvPr/>
        </p:nvSpPr>
        <p:spPr>
          <a:xfrm>
            <a:off x="530352" y="643737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800" dirty="0">
                <a:solidFill>
                  <a:srgbClr val="8B92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项目、机构与数值均为虚构，仅用于布局验证。</a:t>
            </a:r>
            <a:endParaRPr lang="zh-CN" sz="800" dirty="0"/>
          </a:p>
        </p:txBody>
      </p:sp>
      <p:sp>
        <p:nvSpPr>
          <p:cNvPr id="33" name="page"/>
          <p:cNvSpPr/>
          <p:nvPr/>
        </p:nvSpPr>
        <p:spPr>
          <a:xfrm>
            <a:off x="347472" y="6629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900" dirty="0">
                <a:solidFill>
                  <a:srgbClr val="707070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01</a:t>
            </a:r>
            <a:endParaRPr lang="zh-CN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93776" y="292608"/>
            <a:ext cx="11064240" cy="5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3200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四项动作，让社区阅读计划从想法走向可核验的试点</a:t>
            </a:r>
            <a:endParaRPr lang="zh-CN" sz="3200" dirty="0"/>
          </a:p>
        </p:txBody>
      </p:sp>
      <p:sp>
        <p:nvSpPr>
          <p:cNvPr id="3" name="underline-a"/>
          <p:cNvSpPr/>
          <p:nvPr/>
        </p:nvSpPr>
        <p:spPr>
          <a:xfrm>
            <a:off x="493776" y="942340"/>
            <a:ext cx="475488" cy="41148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4" name="underline-b"/>
          <p:cNvSpPr/>
          <p:nvPr/>
        </p:nvSpPr>
        <p:spPr>
          <a:xfrm>
            <a:off x="987552" y="942340"/>
            <a:ext cx="182880" cy="41148"/>
          </a:xfrm>
          <a:prstGeom prst="rect">
            <a:avLst/>
          </a:prstGeom>
          <a:solidFill>
            <a:srgbClr val="5BB6DB"/>
          </a:solidFill>
          <a:ln w="8890">
            <a:solidFill>
              <a:srgbClr val="5BB6DB"/>
            </a:solidFill>
            <a:prstDash val="solid"/>
          </a:ln>
        </p:spPr>
      </p:sp>
      <p:sp>
        <p:nvSpPr>
          <p:cNvPr id="5" name="underline-c"/>
          <p:cNvSpPr/>
          <p:nvPr/>
        </p:nvSpPr>
        <p:spPr>
          <a:xfrm>
            <a:off x="1188720" y="942340"/>
            <a:ext cx="841248" cy="41148"/>
          </a:xfrm>
          <a:prstGeom prst="rect">
            <a:avLst/>
          </a:prstGeom>
          <a:solidFill>
            <a:srgbClr val="DDE9F7"/>
          </a:solidFill>
          <a:ln w="8890">
            <a:solidFill>
              <a:srgbClr val="DDE9F7"/>
            </a:solidFill>
            <a:prstDash val="solid"/>
          </a:ln>
        </p:spPr>
      </p:sp>
      <p:sp>
        <p:nvSpPr>
          <p:cNvPr id="6" name="peer-0-disc"/>
          <p:cNvSpPr/>
          <p:nvPr/>
        </p:nvSpPr>
        <p:spPr>
          <a:xfrm>
            <a:off x="1261872" y="1956816"/>
            <a:ext cx="978408" cy="941832"/>
          </a:xfrm>
          <a:prstGeom prst="ellipse">
            <a:avLst/>
          </a:prstGeom>
          <a:solidFill>
            <a:srgbClr val="91B5E0"/>
          </a:solidFill>
          <a:ln w="8890">
            <a:solidFill>
              <a:srgbClr val="91B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64538" y="2150669"/>
            <a:ext cx="159106" cy="159106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05940" y="2200046"/>
            <a:ext cx="131674" cy="131674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498702" y="2430475"/>
            <a:ext cx="76810" cy="126187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5511" y="2430475"/>
            <a:ext cx="153619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29130" y="2430475"/>
            <a:ext cx="76810" cy="126187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794967" y="2474366"/>
            <a:ext cx="82296" cy="148133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77263" y="2474366"/>
            <a:ext cx="98755" cy="93269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4" name="peer-0-pill"/>
          <p:cNvSpPr/>
          <p:nvPr/>
        </p:nvSpPr>
        <p:spPr>
          <a:xfrm>
            <a:off x="818388" y="3054096"/>
            <a:ext cx="1865376" cy="459232"/>
          </a:xfrm>
          <a:prstGeom prst="roundRect">
            <a:avLst>
              <a:gd name="adj" fmla="val 50000"/>
            </a:avLst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15" name="peer-0-heading"/>
          <p:cNvSpPr/>
          <p:nvPr/>
        </p:nvSpPr>
        <p:spPr>
          <a:xfrm>
            <a:off x="900684" y="3118104"/>
            <a:ext cx="1700784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了解需求</a:t>
            </a:r>
            <a:endParaRPr lang="zh-CN" sz="2000" dirty="0"/>
          </a:p>
        </p:txBody>
      </p:sp>
      <p:sp>
        <p:nvSpPr>
          <p:cNvPr id="16" name="peer-0-action"/>
          <p:cNvSpPr/>
          <p:nvPr/>
        </p:nvSpPr>
        <p:spPr>
          <a:xfrm>
            <a:off x="429768" y="3659632"/>
            <a:ext cx="2642616" cy="49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8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找到共同问题</a:t>
            </a:r>
            <a:endParaRPr lang="zh-CN" sz="2800" dirty="0"/>
          </a:p>
        </p:txBody>
      </p:sp>
      <p:sp>
        <p:nvSpPr>
          <p:cNvPr id="17" name="peer-0-body"/>
          <p:cNvSpPr/>
          <p:nvPr/>
        </p:nvSpPr>
        <p:spPr>
          <a:xfrm>
            <a:off x="429768" y="4355592"/>
            <a:ext cx="264261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收集参与者对时间、空</a:t>
            </a:r>
            <a:endParaRPr lang="zh-CN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间和活动形式的偏好，</a:t>
            </a:r>
            <a:endParaRPr lang="zh-CN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记录需求与限制。</a:t>
            </a:r>
            <a:endParaRPr lang="zh-CN" sz="1800" dirty="0"/>
          </a:p>
        </p:txBody>
      </p:sp>
      <p:sp>
        <p:nvSpPr>
          <p:cNvPr id="18" name="Shape 16"/>
          <p:cNvSpPr/>
          <p:nvPr/>
        </p:nvSpPr>
        <p:spPr>
          <a:xfrm>
            <a:off x="3200400" y="1865376"/>
            <a:ext cx="0" cy="3017520"/>
          </a:xfrm>
          <a:prstGeom prst="line">
            <a:avLst/>
          </a:prstGeom>
          <a:noFill/>
          <a:ln w="12700">
            <a:solidFill>
              <a:srgbClr val="5754B6"/>
            </a:solidFill>
            <a:prstDash val="solid"/>
          </a:ln>
        </p:spPr>
      </p:sp>
      <p:sp>
        <p:nvSpPr>
          <p:cNvPr id="19" name="peer-1-disc"/>
          <p:cNvSpPr/>
          <p:nvPr/>
        </p:nvSpPr>
        <p:spPr>
          <a:xfrm>
            <a:off x="4160520" y="1956816"/>
            <a:ext cx="978408" cy="941832"/>
          </a:xfrm>
          <a:prstGeom prst="ellipse">
            <a:avLst/>
          </a:prstGeom>
          <a:solidFill>
            <a:srgbClr val="91B5E0"/>
          </a:solidFill>
          <a:ln w="8890">
            <a:solidFill>
              <a:srgbClr val="91B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24782" y="2167128"/>
            <a:ext cx="340157" cy="318211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12564" y="2276856"/>
            <a:ext cx="340157" cy="318211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peer-1-pill"/>
          <p:cNvSpPr/>
          <p:nvPr/>
        </p:nvSpPr>
        <p:spPr>
          <a:xfrm>
            <a:off x="3717036" y="3054096"/>
            <a:ext cx="1865376" cy="459232"/>
          </a:xfrm>
          <a:prstGeom prst="roundRect">
            <a:avLst>
              <a:gd name="adj" fmla="val 50000"/>
            </a:avLst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23" name="peer-1-heading"/>
          <p:cNvSpPr/>
          <p:nvPr/>
        </p:nvSpPr>
        <p:spPr>
          <a:xfrm>
            <a:off x="3799332" y="3118104"/>
            <a:ext cx="1700784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设计服务</a:t>
            </a:r>
            <a:endParaRPr lang="zh-CN" sz="2000" dirty="0"/>
          </a:p>
        </p:txBody>
      </p:sp>
      <p:sp>
        <p:nvSpPr>
          <p:cNvPr id="24" name="peer-1-action"/>
          <p:cNvSpPr/>
          <p:nvPr/>
        </p:nvSpPr>
        <p:spPr>
          <a:xfrm>
            <a:off x="3328416" y="3659632"/>
            <a:ext cx="2642616" cy="49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8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形成活动方案</a:t>
            </a:r>
            <a:endParaRPr lang="zh-CN" sz="2800" dirty="0"/>
          </a:p>
        </p:txBody>
      </p:sp>
      <p:sp>
        <p:nvSpPr>
          <p:cNvPr id="25" name="peer-1-body"/>
          <p:cNvSpPr/>
          <p:nvPr/>
        </p:nvSpPr>
        <p:spPr>
          <a:xfrm>
            <a:off x="3328416" y="4355592"/>
            <a:ext cx="264261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把需求转为场次、材料</a:t>
            </a:r>
            <a:endParaRPr lang="zh-CN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和服务清单，注明分工</a:t>
            </a:r>
            <a:endParaRPr lang="zh-CN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与准备时间。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6099048" y="1865376"/>
            <a:ext cx="0" cy="3017520"/>
          </a:xfrm>
          <a:prstGeom prst="line">
            <a:avLst/>
          </a:prstGeom>
          <a:noFill/>
          <a:ln w="12700">
            <a:solidFill>
              <a:srgbClr val="5754B6"/>
            </a:solidFill>
            <a:prstDash val="solid"/>
          </a:ln>
        </p:spPr>
      </p:sp>
      <p:sp>
        <p:nvSpPr>
          <p:cNvPr id="27" name="peer-2-disc"/>
          <p:cNvSpPr/>
          <p:nvPr/>
        </p:nvSpPr>
        <p:spPr>
          <a:xfrm>
            <a:off x="7059168" y="1956816"/>
            <a:ext cx="978408" cy="941832"/>
          </a:xfrm>
          <a:prstGeom prst="ellipse">
            <a:avLst/>
          </a:prstGeom>
          <a:solidFill>
            <a:srgbClr val="91B5E0"/>
          </a:solidFill>
          <a:ln w="8890">
            <a:solidFill>
              <a:srgbClr val="91B5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56348" y="2205533"/>
            <a:ext cx="373075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49617" y="2150669"/>
            <a:ext cx="186538" cy="115214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44130" y="2359152"/>
            <a:ext cx="192024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44130" y="2468880"/>
            <a:ext cx="192024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44130" y="2573122"/>
            <a:ext cx="192024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33" name="peer-2-pill"/>
          <p:cNvSpPr/>
          <p:nvPr/>
        </p:nvSpPr>
        <p:spPr>
          <a:xfrm>
            <a:off x="6615684" y="3054096"/>
            <a:ext cx="1865376" cy="459232"/>
          </a:xfrm>
          <a:prstGeom prst="roundRect">
            <a:avLst>
              <a:gd name="adj" fmla="val 50000"/>
            </a:avLst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34" name="peer-2-heading"/>
          <p:cNvSpPr/>
          <p:nvPr/>
        </p:nvSpPr>
        <p:spPr>
          <a:xfrm>
            <a:off x="6697980" y="3118104"/>
            <a:ext cx="1700784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组织试点</a:t>
            </a:r>
            <a:endParaRPr lang="zh-CN" sz="2000" dirty="0"/>
          </a:p>
        </p:txBody>
      </p:sp>
      <p:sp>
        <p:nvSpPr>
          <p:cNvPr id="35" name="peer-2-action"/>
          <p:cNvSpPr/>
          <p:nvPr/>
        </p:nvSpPr>
        <p:spPr>
          <a:xfrm>
            <a:off x="6227064" y="3659632"/>
            <a:ext cx="2642616" cy="49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8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保留执行记录</a:t>
            </a:r>
            <a:endParaRPr lang="zh-CN" sz="2800" dirty="0"/>
          </a:p>
        </p:txBody>
      </p:sp>
      <p:sp>
        <p:nvSpPr>
          <p:cNvPr id="36" name="peer-2-body"/>
          <p:cNvSpPr/>
          <p:nvPr/>
        </p:nvSpPr>
        <p:spPr>
          <a:xfrm>
            <a:off x="6227064" y="4355592"/>
            <a:ext cx="264261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按小规模方案试运行，</a:t>
            </a:r>
            <a:endParaRPr lang="zh-CN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记录参与、反馈与需要</a:t>
            </a:r>
            <a:endParaRPr lang="zh-CN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调整的事项。</a:t>
            </a:r>
            <a:endParaRPr lang="zh-CN" sz="1800" dirty="0"/>
          </a:p>
        </p:txBody>
      </p:sp>
      <p:sp>
        <p:nvSpPr>
          <p:cNvPr id="37" name="Shape 35"/>
          <p:cNvSpPr/>
          <p:nvPr/>
        </p:nvSpPr>
        <p:spPr>
          <a:xfrm>
            <a:off x="8997696" y="1865376"/>
            <a:ext cx="0" cy="3017520"/>
          </a:xfrm>
          <a:prstGeom prst="line">
            <a:avLst/>
          </a:prstGeom>
          <a:noFill/>
          <a:ln w="12700">
            <a:solidFill>
              <a:srgbClr val="5754B6"/>
            </a:solidFill>
            <a:prstDash val="solid"/>
          </a:ln>
        </p:spPr>
      </p:sp>
      <p:sp>
        <p:nvSpPr>
          <p:cNvPr id="38" name="peer-3-disc"/>
          <p:cNvSpPr/>
          <p:nvPr/>
        </p:nvSpPr>
        <p:spPr>
          <a:xfrm>
            <a:off x="9957816" y="1956816"/>
            <a:ext cx="978408" cy="941832"/>
          </a:xfrm>
          <a:prstGeom prst="ellipse">
            <a:avLst/>
          </a:prstGeom>
          <a:solidFill>
            <a:srgbClr val="91B5E0"/>
          </a:solidFill>
          <a:ln w="8890">
            <a:solidFill>
              <a:srgbClr val="91B5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16591" y="2183587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20833" y="2287829"/>
            <a:ext cx="230429" cy="230429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10436047" y="2156155"/>
            <a:ext cx="252374" cy="246888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89666" y="2156155"/>
            <a:ext cx="98755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88422" y="2156155"/>
            <a:ext cx="0" cy="98755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44" name="peer-3-pill"/>
          <p:cNvSpPr/>
          <p:nvPr/>
        </p:nvSpPr>
        <p:spPr>
          <a:xfrm>
            <a:off x="9514332" y="3054096"/>
            <a:ext cx="1865376" cy="459232"/>
          </a:xfrm>
          <a:prstGeom prst="roundRect">
            <a:avLst>
              <a:gd name="adj" fmla="val 50000"/>
            </a:avLst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45" name="peer-3-heading"/>
          <p:cNvSpPr/>
          <p:nvPr/>
        </p:nvSpPr>
        <p:spPr>
          <a:xfrm>
            <a:off x="9596628" y="3118104"/>
            <a:ext cx="1700784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复盘扩展</a:t>
            </a:r>
            <a:endParaRPr lang="zh-CN" sz="2000" dirty="0"/>
          </a:p>
        </p:txBody>
      </p:sp>
      <p:sp>
        <p:nvSpPr>
          <p:cNvPr id="46" name="peer-3-action"/>
          <p:cNvSpPr/>
          <p:nvPr/>
        </p:nvSpPr>
        <p:spPr>
          <a:xfrm>
            <a:off x="9125712" y="3659632"/>
            <a:ext cx="2642616" cy="49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8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核验实际结果</a:t>
            </a:r>
            <a:endParaRPr lang="zh-CN" sz="2800" dirty="0"/>
          </a:p>
        </p:txBody>
      </p:sp>
      <p:sp>
        <p:nvSpPr>
          <p:cNvPr id="47" name="peer-3-body"/>
          <p:cNvSpPr/>
          <p:nvPr/>
        </p:nvSpPr>
        <p:spPr>
          <a:xfrm>
            <a:off x="9125712" y="4355592"/>
            <a:ext cx="264261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按预先约定的指标复核</a:t>
            </a:r>
            <a:endParaRPr lang="zh-CN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结果，再决定是否扩大</a:t>
            </a:r>
            <a:endParaRPr lang="zh-CN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活动范围。</a:t>
            </a:r>
            <a:endParaRPr lang="zh-CN" sz="1800" dirty="0"/>
          </a:p>
        </p:txBody>
      </p:sp>
      <p:sp>
        <p:nvSpPr>
          <p:cNvPr id="48" name="source"/>
          <p:cNvSpPr/>
          <p:nvPr/>
        </p:nvSpPr>
        <p:spPr>
          <a:xfrm>
            <a:off x="530352" y="643737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800" dirty="0">
                <a:solidFill>
                  <a:srgbClr val="8B92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项目、机构与数值均为虚构，仅用于布局验证。</a:t>
            </a:r>
            <a:endParaRPr lang="zh-CN" sz="800" dirty="0"/>
          </a:p>
        </p:txBody>
      </p:sp>
      <p:sp>
        <p:nvSpPr>
          <p:cNvPr id="49" name="page"/>
          <p:cNvSpPr/>
          <p:nvPr/>
        </p:nvSpPr>
        <p:spPr>
          <a:xfrm>
            <a:off x="347472" y="6629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900" dirty="0">
                <a:solidFill>
                  <a:srgbClr val="707070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02</a:t>
            </a:r>
            <a:endParaRPr lang="zh-CN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93776" y="292608"/>
            <a:ext cx="11064240" cy="5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3200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一套共用能力，支撑三类阅读服务</a:t>
            </a:r>
            <a:endParaRPr lang="zh-CN" sz="3200" dirty="0"/>
          </a:p>
        </p:txBody>
      </p:sp>
      <p:sp>
        <p:nvSpPr>
          <p:cNvPr id="3" name="underline-a"/>
          <p:cNvSpPr/>
          <p:nvPr/>
        </p:nvSpPr>
        <p:spPr>
          <a:xfrm>
            <a:off x="493776" y="942340"/>
            <a:ext cx="475488" cy="41148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4" name="underline-b"/>
          <p:cNvSpPr/>
          <p:nvPr/>
        </p:nvSpPr>
        <p:spPr>
          <a:xfrm>
            <a:off x="987552" y="942340"/>
            <a:ext cx="182880" cy="41148"/>
          </a:xfrm>
          <a:prstGeom prst="rect">
            <a:avLst/>
          </a:prstGeom>
          <a:solidFill>
            <a:srgbClr val="5BB6DB"/>
          </a:solidFill>
          <a:ln w="8890">
            <a:solidFill>
              <a:srgbClr val="5BB6DB"/>
            </a:solidFill>
            <a:prstDash val="solid"/>
          </a:ln>
        </p:spPr>
      </p:sp>
      <p:sp>
        <p:nvSpPr>
          <p:cNvPr id="5" name="underline-c"/>
          <p:cNvSpPr/>
          <p:nvPr/>
        </p:nvSpPr>
        <p:spPr>
          <a:xfrm>
            <a:off x="1188720" y="942340"/>
            <a:ext cx="841248" cy="41148"/>
          </a:xfrm>
          <a:prstGeom prst="rect">
            <a:avLst/>
          </a:prstGeom>
          <a:solidFill>
            <a:srgbClr val="DDE9F7"/>
          </a:solidFill>
          <a:ln w="8890">
            <a:solidFill>
              <a:srgbClr val="DDE9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6200000">
            <a:off x="1645920" y="1920240"/>
            <a:ext cx="2377440" cy="3931920"/>
          </a:xfrm>
          <a:prstGeom prst="triangle">
            <a:avLst/>
          </a:prstGeom>
          <a:solidFill>
            <a:srgbClr val="E1EBF6">
              <a:alpha val="55000"/>
            </a:srgbClr>
          </a:solidFill>
          <a:ln w="12700">
            <a:solidFill>
              <a:srgbClr val="E1EB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679192"/>
            <a:ext cx="2606040" cy="2633472"/>
          </a:xfrm>
          <a:prstGeom prst="ellipse">
            <a:avLst/>
          </a:prstGeom>
          <a:solidFill>
            <a:srgbClr val="FFFFFF">
              <a:alpha val="0"/>
            </a:srgbClr>
          </a:solidFill>
          <a:ln w="5080">
            <a:solidFill>
              <a:srgbClr val="91AA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532888"/>
            <a:ext cx="2926080" cy="2926080"/>
          </a:xfrm>
          <a:prstGeom prst="ellipse">
            <a:avLst/>
          </a:prstGeom>
          <a:solidFill>
            <a:srgbClr val="FFFFFF">
              <a:alpha val="0"/>
            </a:srgbClr>
          </a:solidFill>
          <a:ln w="5080">
            <a:solidFill>
              <a:srgbClr val="91AADE"/>
            </a:solidFill>
            <a:prstDash val="solid"/>
          </a:ln>
        </p:spPr>
      </p:sp>
      <p:sp>
        <p:nvSpPr>
          <p:cNvPr id="9" name="shared-hub-sphere"/>
          <p:cNvSpPr/>
          <p:nvPr/>
        </p:nvSpPr>
        <p:spPr>
          <a:xfrm>
            <a:off x="731520" y="2898648"/>
            <a:ext cx="2176272" cy="2203704"/>
          </a:xfrm>
          <a:prstGeom prst="ellipse">
            <a:avLst/>
          </a:prstGeom>
          <a:gradFill rotWithShape="1">
            <a:gsLst>
              <a:gs pos="0">
                <a:srgbClr val="659FE4"/>
              </a:gs>
              <a:gs pos="100000">
                <a:srgbClr val="1A478C"/>
              </a:gs>
            </a:gsLst>
            <a:lin ang="5400000" scaled="1"/>
          </a:gradFill>
          <a:ln w="38000">
            <a:solidFill>
              <a:srgbClr val="E8F1FF"/>
            </a:solidFill>
          </a:ln>
          <a:effectLst>
            <a:outerShdw blurRad="180000" dist="50000" dir="5400000" algn="ctr" rotWithShape="0">
              <a:srgbClr val="173C72">
                <a:alpha val="14000"/>
              </a:srgbClr>
            </a:outerShdw>
          </a:effectLst>
        </p:spPr>
      </p:sp>
      <p:sp>
        <p:nvSpPr>
          <p:cNvPr id="10" name="hub-title"/>
          <p:cNvSpPr/>
          <p:nvPr/>
        </p:nvSpPr>
        <p:spPr>
          <a:xfrm>
            <a:off x="841248" y="3466719"/>
            <a:ext cx="2011680" cy="399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200" dirty="0">
                <a:solidFill>
                  <a:srgbClr val="FFC000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社区阅读服务</a:t>
            </a:r>
            <a:endParaRPr lang="zh-CN" sz="2200" dirty="0"/>
          </a:p>
        </p:txBody>
      </p:sp>
      <p:sp>
        <p:nvSpPr>
          <p:cNvPr id="11" name="hub-body"/>
          <p:cNvSpPr/>
          <p:nvPr/>
        </p:nvSpPr>
        <p:spPr>
          <a:xfrm>
            <a:off x="841248" y="3975989"/>
            <a:ext cx="2011680" cy="5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16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共用资源</a:t>
            </a:r>
            <a:endParaRPr lang="zh-CN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zh-CN" altLang="en-US" sz="16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协同组织</a:t>
            </a:r>
            <a:endParaRPr lang="zh-CN" sz="1600" dirty="0"/>
          </a:p>
        </p:txBody>
      </p:sp>
      <p:sp>
        <p:nvSpPr>
          <p:cNvPr id="12" name="branch-1-disc"/>
          <p:cNvSpPr/>
          <p:nvPr/>
        </p:nvSpPr>
        <p:spPr>
          <a:xfrm>
            <a:off x="3950208" y="1947672"/>
            <a:ext cx="502920" cy="502920"/>
          </a:xfrm>
          <a:prstGeom prst="ellipse">
            <a:avLst/>
          </a:prstGeom>
          <a:solidFill>
            <a:srgbClr val="3F8DD1"/>
          </a:solidFill>
          <a:ln w="8890">
            <a:solidFill>
              <a:srgbClr val="3F8D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00535" y="2045330"/>
            <a:ext cx="90160" cy="9016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37330" y="2073311"/>
            <a:ext cx="74615" cy="74615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063228" y="2203887"/>
            <a:ext cx="43525" cy="71506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06753" y="2203887"/>
            <a:ext cx="87051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93804" y="2203887"/>
            <a:ext cx="43525" cy="71506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4231112" y="2228759"/>
            <a:ext cx="46634" cy="83942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7746" y="2228759"/>
            <a:ext cx="55961" cy="52852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20" name="branch-1-pill"/>
          <p:cNvSpPr/>
          <p:nvPr/>
        </p:nvSpPr>
        <p:spPr>
          <a:xfrm>
            <a:off x="4718304" y="1947672"/>
            <a:ext cx="3813048" cy="477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DAE5F5"/>
            </a:solidFill>
          </a:ln>
          <a:effectLst>
            <a:outerShdw blurRad="180000" dist="50000" dir="5400000" algn="ctr" rotWithShape="0">
              <a:srgbClr val="1F4A86">
                <a:alpha val="14000"/>
              </a:srgbClr>
            </a:outerShdw>
          </a:effectLst>
        </p:spPr>
      </p:sp>
      <p:sp>
        <p:nvSpPr>
          <p:cNvPr id="21" name="branch-1-heading"/>
          <p:cNvSpPr/>
          <p:nvPr/>
        </p:nvSpPr>
        <p:spPr>
          <a:xfrm>
            <a:off x="4800600" y="2002536"/>
            <a:ext cx="3648456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资源共享</a:t>
            </a:r>
            <a:endParaRPr lang="zh-CN" sz="2000" dirty="0"/>
          </a:p>
        </p:txBody>
      </p:sp>
      <p:sp>
        <p:nvSpPr>
          <p:cNvPr id="22" name="branch-bullet-1-0"/>
          <p:cNvSpPr/>
          <p:nvPr/>
        </p:nvSpPr>
        <p:spPr>
          <a:xfrm>
            <a:off x="4636008" y="2626360"/>
            <a:ext cx="41148" cy="4114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23" name="branch-1-body"/>
          <p:cNvSpPr/>
          <p:nvPr/>
        </p:nvSpPr>
        <p:spPr>
          <a:xfrm>
            <a:off x="4800600" y="2534920"/>
            <a:ext cx="6903720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统一整理可公开使用的图书、场地与活动材料，注明来源和可用</a:t>
            </a:r>
            <a:endParaRPr lang="zh-CN" sz="18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时间。</a:t>
            </a:r>
            <a:endParaRPr lang="zh-CN" sz="1800" dirty="0"/>
          </a:p>
        </p:txBody>
      </p:sp>
      <p:sp>
        <p:nvSpPr>
          <p:cNvPr id="24" name="branch-2-disc"/>
          <p:cNvSpPr/>
          <p:nvPr/>
        </p:nvSpPr>
        <p:spPr>
          <a:xfrm>
            <a:off x="3950208" y="3607054"/>
            <a:ext cx="502920" cy="502920"/>
          </a:xfrm>
          <a:prstGeom prst="ellipse">
            <a:avLst/>
          </a:prstGeom>
          <a:solidFill>
            <a:srgbClr val="3F8DD1"/>
          </a:solidFill>
          <a:ln w="8890">
            <a:solidFill>
              <a:srgbClr val="3F8D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75664" y="3723366"/>
            <a:ext cx="248717" cy="248717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34734" y="3782436"/>
            <a:ext cx="130576" cy="130576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4200022" y="3707821"/>
            <a:ext cx="143012" cy="139903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87073" y="3707821"/>
            <a:ext cx="55961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034" y="3707821"/>
            <a:ext cx="0" cy="55961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30" name="branch-2-pill"/>
          <p:cNvSpPr/>
          <p:nvPr/>
        </p:nvSpPr>
        <p:spPr>
          <a:xfrm>
            <a:off x="4718304" y="3607054"/>
            <a:ext cx="3813048" cy="477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DAE5F5"/>
            </a:solidFill>
          </a:ln>
          <a:effectLst>
            <a:outerShdw blurRad="180000" dist="50000" dir="5400000" algn="ctr" rotWithShape="0">
              <a:srgbClr val="1F4A86">
                <a:alpha val="14000"/>
              </a:srgbClr>
            </a:outerShdw>
          </a:effectLst>
        </p:spPr>
      </p:sp>
      <p:sp>
        <p:nvSpPr>
          <p:cNvPr id="31" name="branch-2-heading"/>
          <p:cNvSpPr/>
          <p:nvPr/>
        </p:nvSpPr>
        <p:spPr>
          <a:xfrm>
            <a:off x="4800600" y="3661918"/>
            <a:ext cx="3648456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活动协同</a:t>
            </a:r>
            <a:endParaRPr lang="zh-CN" sz="2000" dirty="0"/>
          </a:p>
        </p:txBody>
      </p:sp>
      <p:sp>
        <p:nvSpPr>
          <p:cNvPr id="32" name="branch-bullet-2-0"/>
          <p:cNvSpPr/>
          <p:nvPr/>
        </p:nvSpPr>
        <p:spPr>
          <a:xfrm>
            <a:off x="4636008" y="4285742"/>
            <a:ext cx="41148" cy="4114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33" name="branch-2-body"/>
          <p:cNvSpPr/>
          <p:nvPr/>
        </p:nvSpPr>
        <p:spPr>
          <a:xfrm>
            <a:off x="4800600" y="4194302"/>
            <a:ext cx="6903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围绕不同参与群体组织活动，明确主责、交接节点与反馈渠道。</a:t>
            </a:r>
            <a:endParaRPr lang="zh-CN" sz="1800" dirty="0"/>
          </a:p>
        </p:txBody>
      </p:sp>
      <p:sp>
        <p:nvSpPr>
          <p:cNvPr id="34" name="branch-3-disc"/>
          <p:cNvSpPr/>
          <p:nvPr/>
        </p:nvSpPr>
        <p:spPr>
          <a:xfrm>
            <a:off x="3950208" y="5024374"/>
            <a:ext cx="502920" cy="502920"/>
          </a:xfrm>
          <a:prstGeom prst="ellipse">
            <a:avLst/>
          </a:prstGeom>
          <a:solidFill>
            <a:srgbClr val="3F8DD1"/>
          </a:solidFill>
          <a:ln w="8890">
            <a:solidFill>
              <a:srgbClr val="3F8D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78773" y="5131359"/>
            <a:ext cx="192756" cy="18032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28516" y="5193538"/>
            <a:ext cx="192756" cy="18032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" name="branch-3-pill"/>
          <p:cNvSpPr/>
          <p:nvPr/>
        </p:nvSpPr>
        <p:spPr>
          <a:xfrm>
            <a:off x="4718304" y="5024374"/>
            <a:ext cx="3813048" cy="477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DAE5F5"/>
            </a:solidFill>
          </a:ln>
          <a:effectLst>
            <a:outerShdw blurRad="180000" dist="50000" dir="5400000" algn="ctr" rotWithShape="0">
              <a:srgbClr val="1F4A86">
                <a:alpha val="14000"/>
              </a:srgbClr>
            </a:outerShdw>
          </a:effectLst>
        </p:spPr>
      </p:sp>
      <p:sp>
        <p:nvSpPr>
          <p:cNvPr id="38" name="branch-3-heading"/>
          <p:cNvSpPr/>
          <p:nvPr/>
        </p:nvSpPr>
        <p:spPr>
          <a:xfrm>
            <a:off x="4800600" y="5079238"/>
            <a:ext cx="3648456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结果复盘</a:t>
            </a:r>
            <a:endParaRPr lang="zh-CN" sz="2000" dirty="0"/>
          </a:p>
        </p:txBody>
      </p:sp>
      <p:sp>
        <p:nvSpPr>
          <p:cNvPr id="39" name="branch-bullet-3-0"/>
          <p:cNvSpPr/>
          <p:nvPr/>
        </p:nvSpPr>
        <p:spPr>
          <a:xfrm>
            <a:off x="4636008" y="5703062"/>
            <a:ext cx="41148" cy="4114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40" name="branch-3-body"/>
          <p:cNvSpPr/>
          <p:nvPr/>
        </p:nvSpPr>
        <p:spPr>
          <a:xfrm>
            <a:off x="4800600" y="5611622"/>
            <a:ext cx="6903720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依据参与、满意度和持续使用情况复盘，保留变化原因与改进动</a:t>
            </a:r>
            <a:endParaRPr lang="zh-CN" sz="18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作。</a:t>
            </a:r>
            <a:endParaRPr lang="zh-CN" sz="1800" dirty="0"/>
          </a:p>
        </p:txBody>
      </p:sp>
      <p:sp>
        <p:nvSpPr>
          <p:cNvPr id="41" name="source"/>
          <p:cNvSpPr/>
          <p:nvPr/>
        </p:nvSpPr>
        <p:spPr>
          <a:xfrm>
            <a:off x="530352" y="643737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800" dirty="0">
                <a:solidFill>
                  <a:srgbClr val="8B92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项目、机构与数值均为虚构，仅用于布局验证。</a:t>
            </a:r>
            <a:endParaRPr lang="zh-CN" sz="800" dirty="0"/>
          </a:p>
        </p:txBody>
      </p:sp>
      <p:sp>
        <p:nvSpPr>
          <p:cNvPr id="42" name="page"/>
          <p:cNvSpPr/>
          <p:nvPr/>
        </p:nvSpPr>
        <p:spPr>
          <a:xfrm>
            <a:off x="347472" y="6629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900" dirty="0">
                <a:solidFill>
                  <a:srgbClr val="707070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03</a:t>
            </a:r>
            <a:endParaRPr lang="zh-CN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93776" y="292608"/>
            <a:ext cx="11064240" cy="5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3200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七项同级事项：保持相同字号，按容量续页</a:t>
            </a:r>
            <a:endParaRPr lang="zh-CN" sz="3200" dirty="0"/>
          </a:p>
        </p:txBody>
      </p:sp>
      <p:sp>
        <p:nvSpPr>
          <p:cNvPr id="3" name="underline-a"/>
          <p:cNvSpPr/>
          <p:nvPr/>
        </p:nvSpPr>
        <p:spPr>
          <a:xfrm>
            <a:off x="493776" y="942340"/>
            <a:ext cx="475488" cy="41148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4" name="underline-b"/>
          <p:cNvSpPr/>
          <p:nvPr/>
        </p:nvSpPr>
        <p:spPr>
          <a:xfrm>
            <a:off x="987552" y="942340"/>
            <a:ext cx="182880" cy="41148"/>
          </a:xfrm>
          <a:prstGeom prst="rect">
            <a:avLst/>
          </a:prstGeom>
          <a:solidFill>
            <a:srgbClr val="5BB6DB"/>
          </a:solidFill>
          <a:ln w="8890">
            <a:solidFill>
              <a:srgbClr val="5BB6DB"/>
            </a:solidFill>
            <a:prstDash val="solid"/>
          </a:ln>
        </p:spPr>
      </p:sp>
      <p:sp>
        <p:nvSpPr>
          <p:cNvPr id="5" name="underline-c"/>
          <p:cNvSpPr/>
          <p:nvPr/>
        </p:nvSpPr>
        <p:spPr>
          <a:xfrm>
            <a:off x="1188720" y="942340"/>
            <a:ext cx="841248" cy="41148"/>
          </a:xfrm>
          <a:prstGeom prst="rect">
            <a:avLst/>
          </a:prstGeom>
          <a:solidFill>
            <a:srgbClr val="DDE9F7"/>
          </a:solidFill>
          <a:ln w="8890">
            <a:solidFill>
              <a:srgbClr val="DDE9F7"/>
            </a:solidFill>
            <a:prstDash val="solid"/>
          </a:ln>
        </p:spPr>
      </p:sp>
      <p:sp>
        <p:nvSpPr>
          <p:cNvPr id="6" name="row-1-label"/>
          <p:cNvSpPr/>
          <p:nvPr/>
        </p:nvSpPr>
        <p:spPr>
          <a:xfrm>
            <a:off x="356616" y="1399032"/>
            <a:ext cx="3364992" cy="621792"/>
          </a:xfrm>
          <a:prstGeom prst="roundRect">
            <a:avLst>
              <a:gd name="adj" fmla="val 50000"/>
            </a:avLst>
          </a:prstGeom>
          <a:solidFill>
            <a:srgbClr val="3865BB"/>
          </a:solidFill>
          <a:ln w="8890">
            <a:solidFill>
              <a:srgbClr val="3865BB"/>
            </a:solidFill>
            <a:prstDash val="solid"/>
          </a:ln>
        </p:spPr>
      </p:sp>
      <p:sp>
        <p:nvSpPr>
          <p:cNvPr id="7" name="row-1-heading"/>
          <p:cNvSpPr/>
          <p:nvPr/>
        </p:nvSpPr>
        <p:spPr>
          <a:xfrm>
            <a:off x="585216" y="1526032"/>
            <a:ext cx="2880360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事项1</a:t>
            </a:r>
            <a:endParaRPr lang="zh-CN" sz="2000" dirty="0"/>
          </a:p>
        </p:txBody>
      </p:sp>
      <p:sp>
        <p:nvSpPr>
          <p:cNvPr id="8" name="row-1-arrow"/>
          <p:cNvSpPr/>
          <p:nvPr/>
        </p:nvSpPr>
        <p:spPr>
          <a:xfrm>
            <a:off x="3904488" y="1572768"/>
            <a:ext cx="292608" cy="274320"/>
          </a:xfrm>
          <a:prstGeom prst="chevron">
            <a:avLst/>
          </a:prstGeom>
          <a:solidFill>
            <a:srgbClr val="B9CCE5"/>
          </a:solidFill>
          <a:ln w="8890">
            <a:solidFill>
              <a:srgbClr val="B9C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325880"/>
            <a:ext cx="7461504" cy="1072134"/>
          </a:xfrm>
          <a:prstGeom prst="roundRect">
            <a:avLst>
              <a:gd name="adj" fmla="val 8529"/>
            </a:avLst>
          </a:prstGeom>
          <a:solidFill>
            <a:srgbClr val="FFFFFF"/>
          </a:solidFill>
          <a:ln w="10160">
            <a:solidFill>
              <a:srgbClr val="8DAAF0"/>
            </a:solidFill>
            <a:prstDash val="solid"/>
          </a:ln>
        </p:spPr>
      </p:sp>
      <p:sp>
        <p:nvSpPr>
          <p:cNvPr id="10" name="row-bullet-1"/>
          <p:cNvSpPr/>
          <p:nvPr/>
        </p:nvSpPr>
        <p:spPr>
          <a:xfrm>
            <a:off x="4553712" y="1545336"/>
            <a:ext cx="41148" cy="4114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11" name="row-1-body"/>
          <p:cNvSpPr/>
          <p:nvPr/>
        </p:nvSpPr>
        <p:spPr>
          <a:xfrm>
            <a:off x="4828032" y="1453896"/>
            <a:ext cx="6720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确认需求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记录参与者的时间、空间与活动偏好。</a:t>
            </a:r>
            <a:endParaRPr lang="zh-CN" sz="1800" dirty="0"/>
          </a:p>
        </p:txBody>
      </p:sp>
      <p:sp>
        <p:nvSpPr>
          <p:cNvPr id="12" name="row-2-label"/>
          <p:cNvSpPr/>
          <p:nvPr/>
        </p:nvSpPr>
        <p:spPr>
          <a:xfrm>
            <a:off x="356616" y="2635758"/>
            <a:ext cx="3364992" cy="621792"/>
          </a:xfrm>
          <a:prstGeom prst="roundRect">
            <a:avLst>
              <a:gd name="adj" fmla="val 50000"/>
            </a:avLst>
          </a:prstGeom>
          <a:solidFill>
            <a:srgbClr val="3865BB"/>
          </a:solidFill>
          <a:ln w="8890">
            <a:solidFill>
              <a:srgbClr val="3865BB"/>
            </a:solidFill>
            <a:prstDash val="solid"/>
          </a:ln>
        </p:spPr>
      </p:sp>
      <p:sp>
        <p:nvSpPr>
          <p:cNvPr id="13" name="row-2-heading"/>
          <p:cNvSpPr/>
          <p:nvPr/>
        </p:nvSpPr>
        <p:spPr>
          <a:xfrm>
            <a:off x="585216" y="2762758"/>
            <a:ext cx="2880360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事项2</a:t>
            </a:r>
            <a:endParaRPr lang="zh-CN" sz="2000" dirty="0"/>
          </a:p>
        </p:txBody>
      </p:sp>
      <p:sp>
        <p:nvSpPr>
          <p:cNvPr id="14" name="row-2-arrow"/>
          <p:cNvSpPr/>
          <p:nvPr/>
        </p:nvSpPr>
        <p:spPr>
          <a:xfrm>
            <a:off x="3904488" y="2809494"/>
            <a:ext cx="292608" cy="274320"/>
          </a:xfrm>
          <a:prstGeom prst="chevron">
            <a:avLst/>
          </a:prstGeom>
          <a:solidFill>
            <a:srgbClr val="B9CCE5"/>
          </a:solidFill>
          <a:ln w="8890">
            <a:solidFill>
              <a:srgbClr val="B9CC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2562606"/>
            <a:ext cx="7461504" cy="1072134"/>
          </a:xfrm>
          <a:prstGeom prst="roundRect">
            <a:avLst>
              <a:gd name="adj" fmla="val 8529"/>
            </a:avLst>
          </a:prstGeom>
          <a:solidFill>
            <a:srgbClr val="FFFFFF"/>
          </a:solidFill>
          <a:ln w="10160">
            <a:solidFill>
              <a:srgbClr val="8DAAF0"/>
            </a:solidFill>
            <a:prstDash val="solid"/>
          </a:ln>
        </p:spPr>
      </p:sp>
      <p:sp>
        <p:nvSpPr>
          <p:cNvPr id="16" name="row-bullet-2"/>
          <p:cNvSpPr/>
          <p:nvPr/>
        </p:nvSpPr>
        <p:spPr>
          <a:xfrm>
            <a:off x="4553712" y="2782062"/>
            <a:ext cx="41148" cy="4114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17" name="row-2-body"/>
          <p:cNvSpPr/>
          <p:nvPr/>
        </p:nvSpPr>
        <p:spPr>
          <a:xfrm>
            <a:off x="4828032" y="2690622"/>
            <a:ext cx="6720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准备资源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核对场地、材料和人员的准备情况。</a:t>
            </a:r>
            <a:endParaRPr lang="zh-CN" sz="1800" dirty="0"/>
          </a:p>
        </p:txBody>
      </p:sp>
      <p:sp>
        <p:nvSpPr>
          <p:cNvPr id="18" name="row-3-label"/>
          <p:cNvSpPr/>
          <p:nvPr/>
        </p:nvSpPr>
        <p:spPr>
          <a:xfrm>
            <a:off x="356616" y="3872484"/>
            <a:ext cx="3364992" cy="621792"/>
          </a:xfrm>
          <a:prstGeom prst="roundRect">
            <a:avLst>
              <a:gd name="adj" fmla="val 50000"/>
            </a:avLst>
          </a:prstGeom>
          <a:solidFill>
            <a:srgbClr val="3865BB"/>
          </a:solidFill>
          <a:ln w="8890">
            <a:solidFill>
              <a:srgbClr val="3865BB"/>
            </a:solidFill>
            <a:prstDash val="solid"/>
          </a:ln>
        </p:spPr>
      </p:sp>
      <p:sp>
        <p:nvSpPr>
          <p:cNvPr id="19" name="row-3-heading"/>
          <p:cNvSpPr/>
          <p:nvPr/>
        </p:nvSpPr>
        <p:spPr>
          <a:xfrm>
            <a:off x="585216" y="3999484"/>
            <a:ext cx="2880360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事项3</a:t>
            </a:r>
            <a:endParaRPr lang="zh-CN" sz="2000" dirty="0"/>
          </a:p>
        </p:txBody>
      </p:sp>
      <p:sp>
        <p:nvSpPr>
          <p:cNvPr id="20" name="row-3-arrow"/>
          <p:cNvSpPr/>
          <p:nvPr/>
        </p:nvSpPr>
        <p:spPr>
          <a:xfrm>
            <a:off x="3904488" y="4046220"/>
            <a:ext cx="292608" cy="274320"/>
          </a:xfrm>
          <a:prstGeom prst="chevron">
            <a:avLst/>
          </a:prstGeom>
          <a:solidFill>
            <a:srgbClr val="B9CCE5"/>
          </a:solidFill>
          <a:ln w="8890">
            <a:solidFill>
              <a:srgbClr val="B9C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70832" y="3799332"/>
            <a:ext cx="7461504" cy="1072134"/>
          </a:xfrm>
          <a:prstGeom prst="roundRect">
            <a:avLst>
              <a:gd name="adj" fmla="val 8529"/>
            </a:avLst>
          </a:prstGeom>
          <a:solidFill>
            <a:srgbClr val="FFFFFF"/>
          </a:solidFill>
          <a:ln w="10160">
            <a:solidFill>
              <a:srgbClr val="8DAAF0"/>
            </a:solidFill>
            <a:prstDash val="solid"/>
          </a:ln>
        </p:spPr>
      </p:sp>
      <p:sp>
        <p:nvSpPr>
          <p:cNvPr id="22" name="row-bullet-3"/>
          <p:cNvSpPr/>
          <p:nvPr/>
        </p:nvSpPr>
        <p:spPr>
          <a:xfrm>
            <a:off x="4553712" y="4018788"/>
            <a:ext cx="41148" cy="4114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23" name="row-3-body"/>
          <p:cNvSpPr/>
          <p:nvPr/>
        </p:nvSpPr>
        <p:spPr>
          <a:xfrm>
            <a:off x="4828032" y="3927348"/>
            <a:ext cx="6720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明确分工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为每项任务写明责任人、期限与交付物。</a:t>
            </a:r>
            <a:endParaRPr lang="zh-CN" sz="1800" dirty="0"/>
          </a:p>
        </p:txBody>
      </p:sp>
      <p:sp>
        <p:nvSpPr>
          <p:cNvPr id="24" name="source"/>
          <p:cNvSpPr/>
          <p:nvPr/>
        </p:nvSpPr>
        <p:spPr>
          <a:xfrm>
            <a:off x="530352" y="643737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800" dirty="0">
                <a:solidFill>
                  <a:srgbClr val="8B92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项目、机构与数值均为虚构，仅用于布局验证。</a:t>
            </a:r>
            <a:endParaRPr lang="zh-CN" sz="800" dirty="0"/>
          </a:p>
        </p:txBody>
      </p:sp>
      <p:sp>
        <p:nvSpPr>
          <p:cNvPr id="25" name="page"/>
          <p:cNvSpPr/>
          <p:nvPr/>
        </p:nvSpPr>
        <p:spPr>
          <a:xfrm>
            <a:off x="347472" y="6629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900" dirty="0">
                <a:solidFill>
                  <a:srgbClr val="707070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04 · 1/3</a:t>
            </a:r>
            <a:endParaRPr lang="zh-CN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93776" y="292608"/>
            <a:ext cx="11064240" cy="5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3200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七项同级事项：保持相同字号，按容量续页</a:t>
            </a:r>
            <a:endParaRPr lang="zh-CN" sz="3200" dirty="0"/>
          </a:p>
        </p:txBody>
      </p:sp>
      <p:sp>
        <p:nvSpPr>
          <p:cNvPr id="3" name="underline-a"/>
          <p:cNvSpPr/>
          <p:nvPr/>
        </p:nvSpPr>
        <p:spPr>
          <a:xfrm>
            <a:off x="493776" y="942340"/>
            <a:ext cx="475488" cy="41148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4" name="underline-b"/>
          <p:cNvSpPr/>
          <p:nvPr/>
        </p:nvSpPr>
        <p:spPr>
          <a:xfrm>
            <a:off x="987552" y="942340"/>
            <a:ext cx="182880" cy="41148"/>
          </a:xfrm>
          <a:prstGeom prst="rect">
            <a:avLst/>
          </a:prstGeom>
          <a:solidFill>
            <a:srgbClr val="5BB6DB"/>
          </a:solidFill>
          <a:ln w="8890">
            <a:solidFill>
              <a:srgbClr val="5BB6DB"/>
            </a:solidFill>
            <a:prstDash val="solid"/>
          </a:ln>
        </p:spPr>
      </p:sp>
      <p:sp>
        <p:nvSpPr>
          <p:cNvPr id="5" name="underline-c"/>
          <p:cNvSpPr/>
          <p:nvPr/>
        </p:nvSpPr>
        <p:spPr>
          <a:xfrm>
            <a:off x="1188720" y="942340"/>
            <a:ext cx="841248" cy="41148"/>
          </a:xfrm>
          <a:prstGeom prst="rect">
            <a:avLst/>
          </a:prstGeom>
          <a:solidFill>
            <a:srgbClr val="DDE9F7"/>
          </a:solidFill>
          <a:ln w="8890">
            <a:solidFill>
              <a:srgbClr val="DDE9F7"/>
            </a:solidFill>
            <a:prstDash val="solid"/>
          </a:ln>
        </p:spPr>
      </p:sp>
      <p:sp>
        <p:nvSpPr>
          <p:cNvPr id="6" name="row-4-label"/>
          <p:cNvSpPr/>
          <p:nvPr/>
        </p:nvSpPr>
        <p:spPr>
          <a:xfrm>
            <a:off x="356616" y="1399032"/>
            <a:ext cx="3364992" cy="621792"/>
          </a:xfrm>
          <a:prstGeom prst="roundRect">
            <a:avLst>
              <a:gd name="adj" fmla="val 50000"/>
            </a:avLst>
          </a:prstGeom>
          <a:solidFill>
            <a:srgbClr val="3865BB"/>
          </a:solidFill>
          <a:ln w="8890">
            <a:solidFill>
              <a:srgbClr val="3865BB"/>
            </a:solidFill>
            <a:prstDash val="solid"/>
          </a:ln>
        </p:spPr>
      </p:sp>
      <p:sp>
        <p:nvSpPr>
          <p:cNvPr id="7" name="row-4-heading"/>
          <p:cNvSpPr/>
          <p:nvPr/>
        </p:nvSpPr>
        <p:spPr>
          <a:xfrm>
            <a:off x="585216" y="1526032"/>
            <a:ext cx="2880360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事项4</a:t>
            </a:r>
            <a:endParaRPr lang="zh-CN" sz="2000" dirty="0"/>
          </a:p>
        </p:txBody>
      </p:sp>
      <p:sp>
        <p:nvSpPr>
          <p:cNvPr id="8" name="row-4-arrow"/>
          <p:cNvSpPr/>
          <p:nvPr/>
        </p:nvSpPr>
        <p:spPr>
          <a:xfrm>
            <a:off x="3904488" y="1572768"/>
            <a:ext cx="292608" cy="274320"/>
          </a:xfrm>
          <a:prstGeom prst="chevron">
            <a:avLst/>
          </a:prstGeom>
          <a:solidFill>
            <a:srgbClr val="B9CCE5"/>
          </a:solidFill>
          <a:ln w="8890">
            <a:solidFill>
              <a:srgbClr val="B9C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325880"/>
            <a:ext cx="7461504" cy="1072134"/>
          </a:xfrm>
          <a:prstGeom prst="roundRect">
            <a:avLst>
              <a:gd name="adj" fmla="val 8529"/>
            </a:avLst>
          </a:prstGeom>
          <a:solidFill>
            <a:srgbClr val="FFFFFF"/>
          </a:solidFill>
          <a:ln w="10160">
            <a:solidFill>
              <a:srgbClr val="8DAAF0"/>
            </a:solidFill>
            <a:prstDash val="solid"/>
          </a:ln>
        </p:spPr>
      </p:sp>
      <p:sp>
        <p:nvSpPr>
          <p:cNvPr id="10" name="row-bullet-4"/>
          <p:cNvSpPr/>
          <p:nvPr/>
        </p:nvSpPr>
        <p:spPr>
          <a:xfrm>
            <a:off x="4553712" y="1545336"/>
            <a:ext cx="41148" cy="4114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11" name="row-4-body"/>
          <p:cNvSpPr/>
          <p:nvPr/>
        </p:nvSpPr>
        <p:spPr>
          <a:xfrm>
            <a:off x="4828032" y="1453896"/>
            <a:ext cx="6720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检查流程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确认预约、签到、服务和反馈流程相连。</a:t>
            </a:r>
            <a:endParaRPr lang="zh-CN" sz="1800" dirty="0"/>
          </a:p>
        </p:txBody>
      </p:sp>
      <p:sp>
        <p:nvSpPr>
          <p:cNvPr id="12" name="row-5-label"/>
          <p:cNvSpPr/>
          <p:nvPr/>
        </p:nvSpPr>
        <p:spPr>
          <a:xfrm>
            <a:off x="356616" y="2635758"/>
            <a:ext cx="3364992" cy="621792"/>
          </a:xfrm>
          <a:prstGeom prst="roundRect">
            <a:avLst>
              <a:gd name="adj" fmla="val 50000"/>
            </a:avLst>
          </a:prstGeom>
          <a:solidFill>
            <a:srgbClr val="3865BB"/>
          </a:solidFill>
          <a:ln w="8890">
            <a:solidFill>
              <a:srgbClr val="3865BB"/>
            </a:solidFill>
            <a:prstDash val="solid"/>
          </a:ln>
        </p:spPr>
      </p:sp>
      <p:sp>
        <p:nvSpPr>
          <p:cNvPr id="13" name="row-5-heading"/>
          <p:cNvSpPr/>
          <p:nvPr/>
        </p:nvSpPr>
        <p:spPr>
          <a:xfrm>
            <a:off x="585216" y="2762758"/>
            <a:ext cx="2880360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事项5</a:t>
            </a:r>
            <a:endParaRPr lang="zh-CN" sz="2000" dirty="0"/>
          </a:p>
        </p:txBody>
      </p:sp>
      <p:sp>
        <p:nvSpPr>
          <p:cNvPr id="14" name="row-5-arrow"/>
          <p:cNvSpPr/>
          <p:nvPr/>
        </p:nvSpPr>
        <p:spPr>
          <a:xfrm>
            <a:off x="3904488" y="2809494"/>
            <a:ext cx="292608" cy="274320"/>
          </a:xfrm>
          <a:prstGeom prst="chevron">
            <a:avLst/>
          </a:prstGeom>
          <a:solidFill>
            <a:srgbClr val="B9CCE5"/>
          </a:solidFill>
          <a:ln w="8890">
            <a:solidFill>
              <a:srgbClr val="B9CC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2562606"/>
            <a:ext cx="7461504" cy="1072134"/>
          </a:xfrm>
          <a:prstGeom prst="roundRect">
            <a:avLst>
              <a:gd name="adj" fmla="val 8529"/>
            </a:avLst>
          </a:prstGeom>
          <a:solidFill>
            <a:srgbClr val="FFFFFF"/>
          </a:solidFill>
          <a:ln w="10160">
            <a:solidFill>
              <a:srgbClr val="8DAAF0"/>
            </a:solidFill>
            <a:prstDash val="solid"/>
          </a:ln>
        </p:spPr>
      </p:sp>
      <p:sp>
        <p:nvSpPr>
          <p:cNvPr id="16" name="row-bullet-5"/>
          <p:cNvSpPr/>
          <p:nvPr/>
        </p:nvSpPr>
        <p:spPr>
          <a:xfrm>
            <a:off x="4553712" y="2782062"/>
            <a:ext cx="41148" cy="4114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17" name="row-5-body"/>
          <p:cNvSpPr/>
          <p:nvPr/>
        </p:nvSpPr>
        <p:spPr>
          <a:xfrm>
            <a:off x="4828032" y="2690622"/>
            <a:ext cx="6720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组织试点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按约定方案开展活动，保留完整记录。</a:t>
            </a:r>
            <a:endParaRPr lang="zh-CN" sz="1800" dirty="0"/>
          </a:p>
        </p:txBody>
      </p:sp>
      <p:sp>
        <p:nvSpPr>
          <p:cNvPr id="18" name="source"/>
          <p:cNvSpPr/>
          <p:nvPr/>
        </p:nvSpPr>
        <p:spPr>
          <a:xfrm>
            <a:off x="530352" y="643737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800" dirty="0">
                <a:solidFill>
                  <a:srgbClr val="8B92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项目、机构与数值均为虚构，仅用于布局验证。</a:t>
            </a:r>
            <a:endParaRPr lang="zh-CN" sz="800" dirty="0"/>
          </a:p>
        </p:txBody>
      </p:sp>
      <p:sp>
        <p:nvSpPr>
          <p:cNvPr id="19" name="page"/>
          <p:cNvSpPr/>
          <p:nvPr/>
        </p:nvSpPr>
        <p:spPr>
          <a:xfrm>
            <a:off x="347472" y="6629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900" dirty="0">
                <a:solidFill>
                  <a:srgbClr val="707070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05 · 2/3</a:t>
            </a:r>
            <a:endParaRPr lang="zh-CN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93776" y="292608"/>
            <a:ext cx="11064240" cy="5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3200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七项同级事项：保持相同字号，按容量续页</a:t>
            </a:r>
            <a:endParaRPr lang="zh-CN" sz="3200" dirty="0"/>
          </a:p>
        </p:txBody>
      </p:sp>
      <p:sp>
        <p:nvSpPr>
          <p:cNvPr id="3" name="underline-a"/>
          <p:cNvSpPr/>
          <p:nvPr/>
        </p:nvSpPr>
        <p:spPr>
          <a:xfrm>
            <a:off x="493776" y="942340"/>
            <a:ext cx="475488" cy="41148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4" name="underline-b"/>
          <p:cNvSpPr/>
          <p:nvPr/>
        </p:nvSpPr>
        <p:spPr>
          <a:xfrm>
            <a:off x="987552" y="942340"/>
            <a:ext cx="182880" cy="41148"/>
          </a:xfrm>
          <a:prstGeom prst="rect">
            <a:avLst/>
          </a:prstGeom>
          <a:solidFill>
            <a:srgbClr val="5BB6DB"/>
          </a:solidFill>
          <a:ln w="8890">
            <a:solidFill>
              <a:srgbClr val="5BB6DB"/>
            </a:solidFill>
            <a:prstDash val="solid"/>
          </a:ln>
        </p:spPr>
      </p:sp>
      <p:sp>
        <p:nvSpPr>
          <p:cNvPr id="5" name="underline-c"/>
          <p:cNvSpPr/>
          <p:nvPr/>
        </p:nvSpPr>
        <p:spPr>
          <a:xfrm>
            <a:off x="1188720" y="942340"/>
            <a:ext cx="841248" cy="41148"/>
          </a:xfrm>
          <a:prstGeom prst="rect">
            <a:avLst/>
          </a:prstGeom>
          <a:solidFill>
            <a:srgbClr val="DDE9F7"/>
          </a:solidFill>
          <a:ln w="8890">
            <a:solidFill>
              <a:srgbClr val="DDE9F7"/>
            </a:solidFill>
            <a:prstDash val="solid"/>
          </a:ln>
        </p:spPr>
      </p:sp>
      <p:sp>
        <p:nvSpPr>
          <p:cNvPr id="6" name="row-6-label"/>
          <p:cNvSpPr/>
          <p:nvPr/>
        </p:nvSpPr>
        <p:spPr>
          <a:xfrm>
            <a:off x="356616" y="1399032"/>
            <a:ext cx="3364992" cy="621792"/>
          </a:xfrm>
          <a:prstGeom prst="roundRect">
            <a:avLst>
              <a:gd name="adj" fmla="val 50000"/>
            </a:avLst>
          </a:prstGeom>
          <a:solidFill>
            <a:srgbClr val="3865BB"/>
          </a:solidFill>
          <a:ln w="8890">
            <a:solidFill>
              <a:srgbClr val="3865BB"/>
            </a:solidFill>
            <a:prstDash val="solid"/>
          </a:ln>
        </p:spPr>
      </p:sp>
      <p:sp>
        <p:nvSpPr>
          <p:cNvPr id="7" name="row-6-heading"/>
          <p:cNvSpPr/>
          <p:nvPr/>
        </p:nvSpPr>
        <p:spPr>
          <a:xfrm>
            <a:off x="585216" y="1526032"/>
            <a:ext cx="2880360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事项6</a:t>
            </a:r>
            <a:endParaRPr lang="zh-CN" sz="2000" dirty="0"/>
          </a:p>
        </p:txBody>
      </p:sp>
      <p:sp>
        <p:nvSpPr>
          <p:cNvPr id="8" name="row-6-arrow"/>
          <p:cNvSpPr/>
          <p:nvPr/>
        </p:nvSpPr>
        <p:spPr>
          <a:xfrm>
            <a:off x="3904488" y="1572768"/>
            <a:ext cx="292608" cy="274320"/>
          </a:xfrm>
          <a:prstGeom prst="chevron">
            <a:avLst/>
          </a:prstGeom>
          <a:solidFill>
            <a:srgbClr val="B9CCE5"/>
          </a:solidFill>
          <a:ln w="8890">
            <a:solidFill>
              <a:srgbClr val="B9C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325880"/>
            <a:ext cx="7461504" cy="1072134"/>
          </a:xfrm>
          <a:prstGeom prst="roundRect">
            <a:avLst>
              <a:gd name="adj" fmla="val 8529"/>
            </a:avLst>
          </a:prstGeom>
          <a:solidFill>
            <a:srgbClr val="FFFFFF"/>
          </a:solidFill>
          <a:ln w="10160">
            <a:solidFill>
              <a:srgbClr val="8DAAF0"/>
            </a:solidFill>
            <a:prstDash val="solid"/>
          </a:ln>
        </p:spPr>
      </p:sp>
      <p:sp>
        <p:nvSpPr>
          <p:cNvPr id="10" name="row-bullet-6"/>
          <p:cNvSpPr/>
          <p:nvPr/>
        </p:nvSpPr>
        <p:spPr>
          <a:xfrm>
            <a:off x="4553712" y="1545336"/>
            <a:ext cx="41148" cy="4114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11" name="row-6-body"/>
          <p:cNvSpPr/>
          <p:nvPr/>
        </p:nvSpPr>
        <p:spPr>
          <a:xfrm>
            <a:off x="4828032" y="1453896"/>
            <a:ext cx="6720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核验指标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核对参与、满意度与资源使用情况。</a:t>
            </a:r>
            <a:endParaRPr lang="zh-CN" sz="1800" dirty="0"/>
          </a:p>
        </p:txBody>
      </p:sp>
      <p:sp>
        <p:nvSpPr>
          <p:cNvPr id="12" name="row-7-label"/>
          <p:cNvSpPr/>
          <p:nvPr/>
        </p:nvSpPr>
        <p:spPr>
          <a:xfrm>
            <a:off x="356616" y="2635758"/>
            <a:ext cx="3364992" cy="621792"/>
          </a:xfrm>
          <a:prstGeom prst="roundRect">
            <a:avLst>
              <a:gd name="adj" fmla="val 50000"/>
            </a:avLst>
          </a:prstGeom>
          <a:solidFill>
            <a:srgbClr val="3865BB"/>
          </a:solidFill>
          <a:ln w="8890">
            <a:solidFill>
              <a:srgbClr val="3865BB"/>
            </a:solidFill>
            <a:prstDash val="solid"/>
          </a:ln>
        </p:spPr>
      </p:sp>
      <p:sp>
        <p:nvSpPr>
          <p:cNvPr id="13" name="row-7-heading"/>
          <p:cNvSpPr/>
          <p:nvPr/>
        </p:nvSpPr>
        <p:spPr>
          <a:xfrm>
            <a:off x="585216" y="2762758"/>
            <a:ext cx="2880360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事项7</a:t>
            </a:r>
            <a:endParaRPr lang="zh-CN" sz="2000" dirty="0"/>
          </a:p>
        </p:txBody>
      </p:sp>
      <p:sp>
        <p:nvSpPr>
          <p:cNvPr id="14" name="row-7-arrow"/>
          <p:cNvSpPr/>
          <p:nvPr/>
        </p:nvSpPr>
        <p:spPr>
          <a:xfrm>
            <a:off x="3904488" y="2809494"/>
            <a:ext cx="292608" cy="274320"/>
          </a:xfrm>
          <a:prstGeom prst="chevron">
            <a:avLst/>
          </a:prstGeom>
          <a:solidFill>
            <a:srgbClr val="B9CCE5"/>
          </a:solidFill>
          <a:ln w="8890">
            <a:solidFill>
              <a:srgbClr val="B9CC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2562606"/>
            <a:ext cx="7461504" cy="1072134"/>
          </a:xfrm>
          <a:prstGeom prst="roundRect">
            <a:avLst>
              <a:gd name="adj" fmla="val 8529"/>
            </a:avLst>
          </a:prstGeom>
          <a:solidFill>
            <a:srgbClr val="FFFFFF"/>
          </a:solidFill>
          <a:ln w="10160">
            <a:solidFill>
              <a:srgbClr val="8DAAF0"/>
            </a:solidFill>
            <a:prstDash val="solid"/>
          </a:ln>
        </p:spPr>
      </p:sp>
      <p:sp>
        <p:nvSpPr>
          <p:cNvPr id="16" name="row-bullet-7"/>
          <p:cNvSpPr/>
          <p:nvPr/>
        </p:nvSpPr>
        <p:spPr>
          <a:xfrm>
            <a:off x="4553712" y="2782062"/>
            <a:ext cx="41148" cy="4114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17" name="row-7-body"/>
          <p:cNvSpPr/>
          <p:nvPr/>
        </p:nvSpPr>
        <p:spPr>
          <a:xfrm>
            <a:off x="4828032" y="2690622"/>
            <a:ext cx="6720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复盘改进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对照目标评估效果，形成后续行动。</a:t>
            </a:r>
            <a:endParaRPr lang="zh-CN" sz="1800" dirty="0"/>
          </a:p>
        </p:txBody>
      </p:sp>
      <p:sp>
        <p:nvSpPr>
          <p:cNvPr id="18" name="source"/>
          <p:cNvSpPr/>
          <p:nvPr/>
        </p:nvSpPr>
        <p:spPr>
          <a:xfrm>
            <a:off x="530352" y="643737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800" dirty="0">
                <a:solidFill>
                  <a:srgbClr val="8B92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项目、机构与数值均为虚构，仅用于布局验证。</a:t>
            </a:r>
            <a:endParaRPr lang="zh-CN" sz="800" dirty="0"/>
          </a:p>
        </p:txBody>
      </p:sp>
      <p:sp>
        <p:nvSpPr>
          <p:cNvPr id="19" name="page"/>
          <p:cNvSpPr/>
          <p:nvPr/>
        </p:nvSpPr>
        <p:spPr>
          <a:xfrm>
            <a:off x="347472" y="6629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900" dirty="0">
                <a:solidFill>
                  <a:srgbClr val="707070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06 · 3/3</a:t>
            </a:r>
            <a:endParaRPr lang="zh-CN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93776" y="292608"/>
            <a:ext cx="11064240" cy="106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3200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阅读计划2026Q4复盘：保留不同长度证据，明确目标、责</a:t>
            </a:r>
            <a:endParaRPr lang="zh-CN" sz="32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3200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任、期限与统计口径</a:t>
            </a:r>
            <a:endParaRPr lang="zh-CN" sz="3200" dirty="0"/>
          </a:p>
        </p:txBody>
      </p:sp>
      <p:sp>
        <p:nvSpPr>
          <p:cNvPr id="3" name="underline-a"/>
          <p:cNvSpPr/>
          <p:nvPr/>
        </p:nvSpPr>
        <p:spPr>
          <a:xfrm>
            <a:off x="493776" y="1450340"/>
            <a:ext cx="475488" cy="41148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4" name="underline-b"/>
          <p:cNvSpPr/>
          <p:nvPr/>
        </p:nvSpPr>
        <p:spPr>
          <a:xfrm>
            <a:off x="987552" y="1450340"/>
            <a:ext cx="182880" cy="41148"/>
          </a:xfrm>
          <a:prstGeom prst="rect">
            <a:avLst/>
          </a:prstGeom>
          <a:solidFill>
            <a:srgbClr val="5BB6DB"/>
          </a:solidFill>
          <a:ln w="8890">
            <a:solidFill>
              <a:srgbClr val="5BB6DB"/>
            </a:solidFill>
            <a:prstDash val="solid"/>
          </a:ln>
        </p:spPr>
      </p:sp>
      <p:sp>
        <p:nvSpPr>
          <p:cNvPr id="5" name="underline-c"/>
          <p:cNvSpPr/>
          <p:nvPr/>
        </p:nvSpPr>
        <p:spPr>
          <a:xfrm>
            <a:off x="1188720" y="1450340"/>
            <a:ext cx="841248" cy="41148"/>
          </a:xfrm>
          <a:prstGeom prst="rect">
            <a:avLst/>
          </a:prstGeom>
          <a:solidFill>
            <a:srgbClr val="DDE9F7"/>
          </a:solidFill>
          <a:ln w="8890">
            <a:solidFill>
              <a:srgbClr val="DDE9F7"/>
            </a:solidFill>
            <a:prstDash val="solid"/>
          </a:ln>
        </p:spPr>
      </p:sp>
      <p:sp>
        <p:nvSpPr>
          <p:cNvPr id="6" name="row-1-label"/>
          <p:cNvSpPr/>
          <p:nvPr/>
        </p:nvSpPr>
        <p:spPr>
          <a:xfrm>
            <a:off x="356616" y="1724660"/>
            <a:ext cx="3364992" cy="621792"/>
          </a:xfrm>
          <a:prstGeom prst="roundRect">
            <a:avLst>
              <a:gd name="adj" fmla="val 50000"/>
            </a:avLst>
          </a:prstGeom>
          <a:solidFill>
            <a:srgbClr val="3865BB"/>
          </a:solidFill>
          <a:ln w="8890">
            <a:solidFill>
              <a:srgbClr val="3865BB"/>
            </a:solidFill>
            <a:prstDash val="solid"/>
          </a:ln>
        </p:spPr>
      </p:sp>
      <p:sp>
        <p:nvSpPr>
          <p:cNvPr id="7" name="row-1-heading"/>
          <p:cNvSpPr/>
          <p:nvPr/>
        </p:nvSpPr>
        <p:spPr>
          <a:xfrm>
            <a:off x="585216" y="1851660"/>
            <a:ext cx="2880360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阶段目标</a:t>
            </a:r>
            <a:endParaRPr lang="zh-CN" sz="2000" dirty="0"/>
          </a:p>
        </p:txBody>
      </p:sp>
      <p:sp>
        <p:nvSpPr>
          <p:cNvPr id="8" name="row-1-arrow"/>
          <p:cNvSpPr/>
          <p:nvPr/>
        </p:nvSpPr>
        <p:spPr>
          <a:xfrm>
            <a:off x="3904488" y="1898396"/>
            <a:ext cx="292608" cy="274320"/>
          </a:xfrm>
          <a:prstGeom prst="chevron">
            <a:avLst/>
          </a:prstGeom>
          <a:solidFill>
            <a:srgbClr val="B9CCE5"/>
          </a:solidFill>
          <a:ln w="8890">
            <a:solidFill>
              <a:srgbClr val="B9C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651508"/>
            <a:ext cx="7461504" cy="1357884"/>
          </a:xfrm>
          <a:prstGeom prst="roundRect">
            <a:avLst>
              <a:gd name="adj" fmla="val 6734"/>
            </a:avLst>
          </a:prstGeom>
          <a:solidFill>
            <a:srgbClr val="FFFFFF"/>
          </a:solidFill>
          <a:ln w="10160">
            <a:solidFill>
              <a:srgbClr val="8DAAF0"/>
            </a:solidFill>
            <a:prstDash val="solid"/>
          </a:ln>
        </p:spPr>
      </p:sp>
      <p:sp>
        <p:nvSpPr>
          <p:cNvPr id="10" name="row-bullet-1"/>
          <p:cNvSpPr/>
          <p:nvPr/>
        </p:nvSpPr>
        <p:spPr>
          <a:xfrm>
            <a:off x="4553712" y="1870964"/>
            <a:ext cx="41148" cy="4114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11" name="row-1-body"/>
          <p:cNvSpPr/>
          <p:nvPr/>
        </p:nvSpPr>
        <p:spPr>
          <a:xfrm>
            <a:off x="4828032" y="1779524"/>
            <a:ext cx="6720840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保留关键事实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试点覆盖3处活动点，每处先开展2场活动。记录服务时间和实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际参与情况，以完成记录核验效果。</a:t>
            </a:r>
            <a:endParaRPr lang="zh-CN" sz="1800" dirty="0"/>
          </a:p>
        </p:txBody>
      </p:sp>
      <p:sp>
        <p:nvSpPr>
          <p:cNvPr id="12" name="source"/>
          <p:cNvSpPr/>
          <p:nvPr/>
        </p:nvSpPr>
        <p:spPr>
          <a:xfrm>
            <a:off x="530352" y="643737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800" dirty="0">
                <a:solidFill>
                  <a:srgbClr val="8B92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项目、机构与数值均为虚构，仅用于布局验证。</a:t>
            </a:r>
            <a:endParaRPr lang="zh-CN" sz="800" dirty="0"/>
          </a:p>
        </p:txBody>
      </p:sp>
      <p:sp>
        <p:nvSpPr>
          <p:cNvPr id="13" name="page"/>
          <p:cNvSpPr/>
          <p:nvPr/>
        </p:nvSpPr>
        <p:spPr>
          <a:xfrm>
            <a:off x="347472" y="6629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900" dirty="0">
                <a:solidFill>
                  <a:srgbClr val="707070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07 · 1/2</a:t>
            </a:r>
            <a:endParaRPr lang="zh-CN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93776" y="292608"/>
            <a:ext cx="11064240" cy="106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3200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阅读计划2026Q4复盘：保留不同长度证据，明确目标、责</a:t>
            </a:r>
            <a:endParaRPr lang="zh-CN" sz="32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3200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任、期限与统计口径</a:t>
            </a:r>
            <a:endParaRPr lang="zh-CN" sz="3200" dirty="0"/>
          </a:p>
        </p:txBody>
      </p:sp>
      <p:sp>
        <p:nvSpPr>
          <p:cNvPr id="3" name="underline-a"/>
          <p:cNvSpPr/>
          <p:nvPr/>
        </p:nvSpPr>
        <p:spPr>
          <a:xfrm>
            <a:off x="493776" y="1450340"/>
            <a:ext cx="475488" cy="41148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4" name="underline-b"/>
          <p:cNvSpPr/>
          <p:nvPr/>
        </p:nvSpPr>
        <p:spPr>
          <a:xfrm>
            <a:off x="987552" y="1450340"/>
            <a:ext cx="182880" cy="41148"/>
          </a:xfrm>
          <a:prstGeom prst="rect">
            <a:avLst/>
          </a:prstGeom>
          <a:solidFill>
            <a:srgbClr val="5BB6DB"/>
          </a:solidFill>
          <a:ln w="8890">
            <a:solidFill>
              <a:srgbClr val="5BB6DB"/>
            </a:solidFill>
            <a:prstDash val="solid"/>
          </a:ln>
        </p:spPr>
      </p:sp>
      <p:sp>
        <p:nvSpPr>
          <p:cNvPr id="5" name="underline-c"/>
          <p:cNvSpPr/>
          <p:nvPr/>
        </p:nvSpPr>
        <p:spPr>
          <a:xfrm>
            <a:off x="1188720" y="1450340"/>
            <a:ext cx="841248" cy="41148"/>
          </a:xfrm>
          <a:prstGeom prst="rect">
            <a:avLst/>
          </a:prstGeom>
          <a:solidFill>
            <a:srgbClr val="DDE9F7"/>
          </a:solidFill>
          <a:ln w="8890">
            <a:solidFill>
              <a:srgbClr val="DDE9F7"/>
            </a:solidFill>
            <a:prstDash val="solid"/>
          </a:ln>
        </p:spPr>
      </p:sp>
      <p:sp>
        <p:nvSpPr>
          <p:cNvPr id="6" name="row-2-label"/>
          <p:cNvSpPr/>
          <p:nvPr/>
        </p:nvSpPr>
        <p:spPr>
          <a:xfrm>
            <a:off x="356616" y="1724660"/>
            <a:ext cx="3364992" cy="621792"/>
          </a:xfrm>
          <a:prstGeom prst="roundRect">
            <a:avLst>
              <a:gd name="adj" fmla="val 50000"/>
            </a:avLst>
          </a:prstGeom>
          <a:solidFill>
            <a:srgbClr val="3865BB"/>
          </a:solidFill>
          <a:ln w="8890">
            <a:solidFill>
              <a:srgbClr val="3865BB"/>
            </a:solidFill>
            <a:prstDash val="solid"/>
          </a:ln>
        </p:spPr>
      </p:sp>
      <p:sp>
        <p:nvSpPr>
          <p:cNvPr id="7" name="row-2-heading"/>
          <p:cNvSpPr/>
          <p:nvPr/>
        </p:nvSpPr>
        <p:spPr>
          <a:xfrm>
            <a:off x="585216" y="1851660"/>
            <a:ext cx="2880360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执行证据</a:t>
            </a:r>
            <a:endParaRPr lang="zh-CN" sz="2000" dirty="0"/>
          </a:p>
        </p:txBody>
      </p:sp>
      <p:sp>
        <p:nvSpPr>
          <p:cNvPr id="8" name="row-2-arrow"/>
          <p:cNvSpPr/>
          <p:nvPr/>
        </p:nvSpPr>
        <p:spPr>
          <a:xfrm>
            <a:off x="3904488" y="1898396"/>
            <a:ext cx="292608" cy="274320"/>
          </a:xfrm>
          <a:prstGeom prst="chevron">
            <a:avLst/>
          </a:prstGeom>
          <a:solidFill>
            <a:srgbClr val="B9CCE5"/>
          </a:solidFill>
          <a:ln w="8890">
            <a:solidFill>
              <a:srgbClr val="B9C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651508"/>
            <a:ext cx="7461504" cy="3643884"/>
          </a:xfrm>
          <a:prstGeom prst="roundRect">
            <a:avLst>
              <a:gd name="adj" fmla="val 2509"/>
            </a:avLst>
          </a:prstGeom>
          <a:solidFill>
            <a:srgbClr val="FFFFFF"/>
          </a:solidFill>
          <a:ln w="10160">
            <a:solidFill>
              <a:srgbClr val="8DAAF0"/>
            </a:solidFill>
            <a:prstDash val="solid"/>
          </a:ln>
        </p:spPr>
      </p:sp>
      <p:sp>
        <p:nvSpPr>
          <p:cNvPr id="10" name="row-bullet-2"/>
          <p:cNvSpPr/>
          <p:nvPr/>
        </p:nvSpPr>
        <p:spPr>
          <a:xfrm>
            <a:off x="4553712" y="1870964"/>
            <a:ext cx="41148" cy="4114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11" name="row-2-body"/>
          <p:cNvSpPr/>
          <p:nvPr/>
        </p:nvSpPr>
        <p:spPr>
          <a:xfrm>
            <a:off x="4828032" y="1779524"/>
            <a:ext cx="6720840" cy="2622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完整保留记录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首先核对需求、场地、材料和责任分工，明确每项工作的检查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依据。其次记录每场活动的参与情况与反馈，保留实际数值及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统计口径。发现目标与结果不一致时，说明差异及原因，并将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改进动作写入后续计划。再次核验任务之间的依赖关系，避免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只记录完成状态而缺少必要证据。最终形成按责任、时间、交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付物和复核结论组织的完整记录；合成指标152.6用于数字保真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检查，不能因排版省略或改写。后续复盘延续同一统计范围，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不将计划值混写为已经实现的结果。</a:t>
            </a:r>
            <a:endParaRPr lang="zh-CN" sz="1800" dirty="0"/>
          </a:p>
        </p:txBody>
      </p:sp>
      <p:sp>
        <p:nvSpPr>
          <p:cNvPr id="12" name="source"/>
          <p:cNvSpPr/>
          <p:nvPr/>
        </p:nvSpPr>
        <p:spPr>
          <a:xfrm>
            <a:off x="530352" y="643737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800" dirty="0">
                <a:solidFill>
                  <a:srgbClr val="8B92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项目、机构与数值均为虚构，仅用于布局验证。</a:t>
            </a:r>
            <a:endParaRPr lang="zh-CN" sz="800" dirty="0"/>
          </a:p>
        </p:txBody>
      </p:sp>
      <p:sp>
        <p:nvSpPr>
          <p:cNvPr id="13" name="page"/>
          <p:cNvSpPr/>
          <p:nvPr/>
        </p:nvSpPr>
        <p:spPr>
          <a:xfrm>
            <a:off x="347472" y="6629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900" dirty="0">
                <a:solidFill>
                  <a:srgbClr val="707070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08 · 2/2</a:t>
            </a:r>
            <a:endParaRPr lang="zh-CN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93776" y="292608"/>
            <a:ext cx="11064240" cy="5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3200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虚构试点指标：左看参与规模，右看阶段趋势</a:t>
            </a:r>
            <a:endParaRPr lang="zh-CN" sz="3200" dirty="0"/>
          </a:p>
        </p:txBody>
      </p:sp>
      <p:sp>
        <p:nvSpPr>
          <p:cNvPr id="3" name="underline-a"/>
          <p:cNvSpPr/>
          <p:nvPr/>
        </p:nvSpPr>
        <p:spPr>
          <a:xfrm>
            <a:off x="493776" y="942340"/>
            <a:ext cx="475488" cy="41148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4" name="underline-b"/>
          <p:cNvSpPr/>
          <p:nvPr/>
        </p:nvSpPr>
        <p:spPr>
          <a:xfrm>
            <a:off x="987552" y="942340"/>
            <a:ext cx="182880" cy="41148"/>
          </a:xfrm>
          <a:prstGeom prst="rect">
            <a:avLst/>
          </a:prstGeom>
          <a:solidFill>
            <a:srgbClr val="5BB6DB"/>
          </a:solidFill>
          <a:ln w="8890">
            <a:solidFill>
              <a:srgbClr val="5BB6DB"/>
            </a:solidFill>
            <a:prstDash val="solid"/>
          </a:ln>
        </p:spPr>
      </p:sp>
      <p:sp>
        <p:nvSpPr>
          <p:cNvPr id="5" name="underline-c"/>
          <p:cNvSpPr/>
          <p:nvPr/>
        </p:nvSpPr>
        <p:spPr>
          <a:xfrm>
            <a:off x="1188720" y="942340"/>
            <a:ext cx="841248" cy="41148"/>
          </a:xfrm>
          <a:prstGeom prst="rect">
            <a:avLst/>
          </a:prstGeom>
          <a:solidFill>
            <a:srgbClr val="DDE9F7"/>
          </a:solidFill>
          <a:ln w="8890">
            <a:solidFill>
              <a:srgbClr val="DDE9F7"/>
            </a:solidFill>
            <a:prstDash val="solid"/>
          </a:ln>
        </p:spPr>
      </p:sp>
      <p:sp>
        <p:nvSpPr>
          <p:cNvPr id="6" name="subtitle"/>
          <p:cNvSpPr/>
          <p:nvPr/>
        </p:nvSpPr>
        <p:spPr>
          <a:xfrm>
            <a:off x="566928" y="1125220"/>
            <a:ext cx="10881360" cy="304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16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趋势图不堆叠全部数据标签；完整数值另见下一页原生表格</a:t>
            </a:r>
            <a:endParaRPr lang="zh-CN" sz="1600" dirty="0"/>
          </a:p>
        </p:txBody>
      </p:sp>
      <p:sp>
        <p:nvSpPr>
          <p:cNvPr id="7" name="chart-header-0"/>
          <p:cNvSpPr/>
          <p:nvPr/>
        </p:nvSpPr>
        <p:spPr>
          <a:xfrm>
            <a:off x="502920" y="1575816"/>
            <a:ext cx="2880360" cy="457200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8" name="chart-panel-title-0"/>
          <p:cNvSpPr/>
          <p:nvPr/>
        </p:nvSpPr>
        <p:spPr>
          <a:xfrm>
            <a:off x="612648" y="1648968"/>
            <a:ext cx="2660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2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参与规模</a:t>
            </a:r>
            <a:endParaRPr lang="zh-CN" sz="2200" dirty="0"/>
          </a:p>
        </p:txBody>
      </p:sp>
      <p:sp>
        <p:nvSpPr>
          <p:cNvPr id="9" name="evidence-chart-0-panel"/>
          <p:cNvSpPr/>
          <p:nvPr/>
        </p:nvSpPr>
        <p:spPr>
          <a:xfrm>
            <a:off x="502920" y="2234184"/>
            <a:ext cx="2880360" cy="3590544"/>
          </a:xfrm>
          <a:prstGeom prst="roundRect">
            <a:avLst>
              <a:gd name="adj" fmla="val 5079"/>
            </a:avLst>
          </a:prstGeom>
          <a:solidFill>
            <a:srgbClr val="E6EFF6"/>
          </a:solidFill>
          <a:ln w="8890">
            <a:solidFill>
              <a:srgbClr val="A6B8CF"/>
            </a:solidFill>
            <a:prstDash val="solid"/>
          </a:ln>
        </p:spPr>
      </p:sp>
      <p:graphicFrame>
        <p:nvGraphicFramePr>
          <p:cNvPr id="10" name="evidence-chart-0" descr=""/>
          <p:cNvGraphicFramePr/>
          <p:nvPr/>
        </p:nvGraphicFramePr>
        <p:xfrm>
          <a:off x="649224" y="2435352"/>
          <a:ext cx="2587752" cy="32705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chart-header-1"/>
          <p:cNvSpPr/>
          <p:nvPr/>
        </p:nvSpPr>
        <p:spPr>
          <a:xfrm>
            <a:off x="3694176" y="1575816"/>
            <a:ext cx="7955280" cy="457200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12" name="chart-panel-title-1"/>
          <p:cNvSpPr/>
          <p:nvPr/>
        </p:nvSpPr>
        <p:spPr>
          <a:xfrm>
            <a:off x="3803904" y="1648968"/>
            <a:ext cx="7735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2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阶段趋势</a:t>
            </a:r>
            <a:endParaRPr lang="zh-CN" sz="2200" dirty="0"/>
          </a:p>
        </p:txBody>
      </p:sp>
      <p:sp>
        <p:nvSpPr>
          <p:cNvPr id="13" name="evidence-chart-1-panel"/>
          <p:cNvSpPr/>
          <p:nvPr/>
        </p:nvSpPr>
        <p:spPr>
          <a:xfrm>
            <a:off x="3694176" y="2234184"/>
            <a:ext cx="7955280" cy="3590544"/>
          </a:xfrm>
          <a:prstGeom prst="roundRect">
            <a:avLst>
              <a:gd name="adj" fmla="val 4075"/>
            </a:avLst>
          </a:prstGeom>
          <a:solidFill>
            <a:srgbClr val="E6EFF6"/>
          </a:solidFill>
          <a:ln w="8890">
            <a:solidFill>
              <a:srgbClr val="A6B8CF"/>
            </a:solidFill>
            <a:prstDash val="solid"/>
          </a:ln>
        </p:spPr>
      </p:sp>
      <p:graphicFrame>
        <p:nvGraphicFramePr>
          <p:cNvPr id="14" name="evidence-chart-1" descr=""/>
          <p:cNvGraphicFramePr/>
          <p:nvPr/>
        </p:nvGraphicFramePr>
        <p:xfrm>
          <a:off x="3840480" y="2435352"/>
          <a:ext cx="7662672" cy="32705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ource"/>
          <p:cNvSpPr/>
          <p:nvPr/>
        </p:nvSpPr>
        <p:spPr>
          <a:xfrm>
            <a:off x="530352" y="643737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800" dirty="0">
                <a:solidFill>
                  <a:srgbClr val="8B92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项目、机构与数值均为虚构，仅用于布局验证。</a:t>
            </a:r>
            <a:endParaRPr lang="zh-CN" sz="800" dirty="0"/>
          </a:p>
        </p:txBody>
      </p:sp>
      <p:sp>
        <p:nvSpPr>
          <p:cNvPr id="16" name="page"/>
          <p:cNvSpPr/>
          <p:nvPr/>
        </p:nvSpPr>
        <p:spPr>
          <a:xfrm>
            <a:off x="347472" y="6629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900" dirty="0">
                <a:solidFill>
                  <a:srgbClr val="707070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09</a:t>
            </a:r>
            <a:endParaRPr lang="zh-CN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93776" y="292608"/>
            <a:ext cx="1106424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3200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虚构趋势数据：保留全部数值和统计口径</a:t>
            </a:r>
            <a:endParaRPr lang="zh-CN" sz="3200" dirty="0"/>
          </a:p>
        </p:txBody>
      </p:sp>
      <p:sp>
        <p:nvSpPr>
          <p:cNvPr id="3" name="underline-a"/>
          <p:cNvSpPr/>
          <p:nvPr/>
        </p:nvSpPr>
        <p:spPr>
          <a:xfrm>
            <a:off x="493776" y="889508"/>
            <a:ext cx="475488" cy="41148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4" name="underline-b"/>
          <p:cNvSpPr/>
          <p:nvPr/>
        </p:nvSpPr>
        <p:spPr>
          <a:xfrm>
            <a:off x="987552" y="889508"/>
            <a:ext cx="182880" cy="41148"/>
          </a:xfrm>
          <a:prstGeom prst="rect">
            <a:avLst/>
          </a:prstGeom>
          <a:solidFill>
            <a:srgbClr val="5BB6DB"/>
          </a:solidFill>
          <a:ln w="8890">
            <a:solidFill>
              <a:srgbClr val="5BB6DB"/>
            </a:solidFill>
            <a:prstDash val="solid"/>
          </a:ln>
        </p:spPr>
      </p:sp>
      <p:sp>
        <p:nvSpPr>
          <p:cNvPr id="5" name="underline-c"/>
          <p:cNvSpPr/>
          <p:nvPr/>
        </p:nvSpPr>
        <p:spPr>
          <a:xfrm>
            <a:off x="1188720" y="889508"/>
            <a:ext cx="841248" cy="41148"/>
          </a:xfrm>
          <a:prstGeom prst="rect">
            <a:avLst/>
          </a:prstGeom>
          <a:solidFill>
            <a:srgbClr val="DDE9F7"/>
          </a:solidFill>
          <a:ln w="8890">
            <a:solidFill>
              <a:srgbClr val="DDE9F7"/>
            </a:solidFill>
            <a:prstDash val="solid"/>
          </a:ln>
        </p:spPr>
      </p:sp>
      <p:sp>
        <p:nvSpPr>
          <p:cNvPr id="6" name="subtitle"/>
          <p:cNvSpPr/>
          <p:nvPr/>
        </p:nvSpPr>
        <p:spPr>
          <a:xfrm>
            <a:off x="566928" y="1072388"/>
            <a:ext cx="10881360" cy="304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16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指数仅用于演示布局，未指向任何真实项目。</a:t>
            </a:r>
            <a:endParaRPr lang="zh-CN" sz="1600" dirty="0"/>
          </a:p>
        </p:txBody>
      </p:sp>
      <p:sp>
        <p:nvSpPr>
          <p:cNvPr id="7" name="source"/>
          <p:cNvSpPr/>
          <p:nvPr/>
        </p:nvSpPr>
        <p:spPr>
          <a:xfrm>
            <a:off x="530352" y="643737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800" dirty="0">
                <a:solidFill>
                  <a:srgbClr val="8B92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项目、机构与数值均为虚构，仅用于布局验证。</a:t>
            </a:r>
            <a:endParaRPr lang="zh-CN" sz="800" dirty="0"/>
          </a:p>
        </p:txBody>
      </p:sp>
      <p:sp>
        <p:nvSpPr>
          <p:cNvPr id="8" name="page"/>
          <p:cNvSpPr/>
          <p:nvPr/>
        </p:nvSpPr>
        <p:spPr>
          <a:xfrm>
            <a:off x="347472" y="6629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900" dirty="0">
                <a:solidFill>
                  <a:srgbClr val="707070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10</a:t>
            </a:r>
            <a:endParaRPr lang="zh-CN" sz="900" dirty="0"/>
          </a:p>
        </p:txBody>
      </p:sp>
      <p:graphicFrame>
        <p:nvGraphicFramePr>
          <p:cNvPr id="11" name="evide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68704"/>
          <a:ext cx="11058144" cy="914400"/>
        </p:xfrm>
        <a:graphic>
          <a:graphicData uri="http://schemas.openxmlformats.org/drawingml/2006/table">
            <a:tbl>
              <a:tblPr/>
              <a:tblGrid>
                <a:gridCol w="2325150"/>
                <a:gridCol w="2183248"/>
                <a:gridCol w="2183248"/>
                <a:gridCol w="2183248"/>
                <a:gridCol w="2183248"/>
              </a:tblGrid>
              <a:tr h="491998"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指标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65B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第一周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65B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第二周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65B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第三周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65B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第四周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65BB"/>
                    </a:solidFill>
                  </a:tcPr>
                </a:tc>
              </a:tr>
              <a:tr h="491998"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实际参与指数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42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59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75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92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998"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计划参与指数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45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60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80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100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"/>
        <a:ea typeface="DengXian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ngXian"/>
        <a:ea typeface="DengXian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蓝色图解 · 虚构公开示例</dc:title>
  <dc:subject>PptxGenJS Presentation</dc:subject>
  <dc:creator>blue-ib-slides</dc:creator>
  <cp:lastModifiedBy>blue-ib-slides</cp:lastModifiedBy>
  <cp:revision>1</cp:revision>
  <dcterms:created xsi:type="dcterms:W3CDTF">2026-10-29T02:38:49Z</dcterms:created>
  <dcterms:modified xsi:type="dcterms:W3CDTF">2026-10-29T02:38:49Z</dcterms:modified>
</cp:coreProperties>
</file>