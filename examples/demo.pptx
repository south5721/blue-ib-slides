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本期参与人数</c:v>
                </c:pt>
              </c:strCache>
            </c:strRef>
          </c:tx>
          <c:spPr>
            <a:solidFill>
              <a:srgbClr val="3479C9"/>
            </a:solidFill>
            <a:effectLst/>
          </c:spPr>
          <c:invertIfNegative val="0"/>
          <c:dLbls>
            <c:numFmt formatCode="0.0" sourceLinked="0"/>
            <c:txPr>
              <a:bodyPr>
                <a:noAutofit/>
              </a:bodyPr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DengXian"/>
                    <a:ea typeface="DengXi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A社区</c:v>
                  </c:pt>
                  <c:pt idx="1">
                    <c:v>B社区</c:v>
                  </c:pt>
                  <c:pt idx="2">
                    <c:v>C社区</c:v>
                  </c:pt>
                  <c:pt idx="3">
                    <c:v>D社区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123</c:v>
                </c:pt>
                <c:pt idx="2">
                  <c:v>97</c:v>
                </c:pt>
                <c:pt idx="3">
                  <c:v>148</c:v>
                </c:pt>
              </c:numCache>
            </c:numRef>
          </c:val>
        </c:ser>
        <c:dLbls>
          <c:numFmt formatCode="0.0" sourceLinked="0"/>
          <c:txPr>
            <a:bodyPr>
              <a:noAutofit/>
            </a:bodyPr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DengXian"/>
                  <a:ea typeface="DengXi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>
            <a:noAutofit/>
          </a:bodyPr>
          <a:lstStyle/>
          <a:p>
            <a:pPr>
              <a:defRPr sz="1400" b="0" i="0" u="none" strike="noStrike">
                <a:solidFill>
                  <a:srgbClr val="000000"/>
                </a:solidFill>
                <a:latin typeface="DengXian"/>
                <a:ea typeface="DengXi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AE2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>
            <a:noAutofit/>
          </a:bodyPr>
          <a:lstStyle/>
          <a:p>
            <a:pPr>
              <a:defRPr sz="1100" b="0" i="0" u="none" strike="noStrike">
                <a:solidFill>
                  <a:srgbClr val="000000"/>
                </a:solidFill>
                <a:latin typeface="DengXian"/>
                <a:ea typeface="DengXi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实际参与指数</c:v>
                </c:pt>
              </c:strCache>
            </c:strRef>
          </c:tx>
          <c:spPr>
            <a:solidFill>
              <a:srgbClr val="3479C9"/>
            </a:solidFill>
            <a:ln w="19050" cap="flat">
              <a:solidFill>
                <a:srgbClr val="3479C9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>
                <a:noAutofit/>
              </a:bodyPr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DengXian"/>
                    <a:ea typeface="DengXian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79C9"/>
              </a:solidFill>
              <a:ln w="9525" cap="flat">
                <a:solidFill>
                  <a:srgbClr val="3479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第一周</c:v>
                  </c:pt>
                  <c:pt idx="1">
                    <c:v>第二周</c:v>
                  </c:pt>
                  <c:pt idx="2">
                    <c:v>第三周</c:v>
                  </c:pt>
                  <c:pt idx="3">
                    <c:v>第四周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59</c:v>
                </c:pt>
                <c:pt idx="2">
                  <c:v>75</c:v>
                </c:pt>
                <c:pt idx="3">
                  <c:v>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计划参与指数</c:v>
                </c:pt>
              </c:strCache>
            </c:strRef>
          </c:tx>
          <c:spPr>
            <a:solidFill>
              <a:srgbClr val="FF7829"/>
            </a:solidFill>
            <a:ln w="19050" cap="flat">
              <a:solidFill>
                <a:srgbClr val="FF7829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>
                <a:noAutofit/>
              </a:bodyPr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DengXian"/>
                    <a:ea typeface="DengXian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829"/>
              </a:solidFill>
              <a:ln w="9525" cap="flat">
                <a:solidFill>
                  <a:srgbClr val="FF782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第一周</c:v>
                  </c:pt>
                  <c:pt idx="1">
                    <c:v>第二周</c:v>
                  </c:pt>
                  <c:pt idx="2">
                    <c:v>第三周</c:v>
                  </c:pt>
                  <c:pt idx="3">
                    <c:v>第四周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</c:v>
                </c:pt>
                <c:pt idx="1">
                  <c:v>60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  <c:smooth val="0"/>
        </c:ser>
        <c:dLbls>
          <c:numFmt formatCode="0.0" sourceLinked="0"/>
          <c:txPr>
            <a:bodyPr>
              <a:noAutofit/>
            </a:bodyPr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DengXian"/>
                  <a:ea typeface="DengXian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>
            <a:noAutofit/>
          </a:bodyPr>
          <a:lstStyle/>
          <a:p>
            <a:pPr>
              <a:defRPr sz="1400" b="0" i="0" u="none" strike="noStrike">
                <a:solidFill>
                  <a:srgbClr val="000000"/>
                </a:solidFill>
                <a:latin typeface="DengXian"/>
                <a:ea typeface="DengXi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DAE2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>
            <a:noAutofit/>
          </a:bodyPr>
          <a:lstStyle/>
          <a:p>
            <a:pPr>
              <a:defRPr sz="1100" b="0" i="0" u="none" strike="noStrike">
                <a:solidFill>
                  <a:srgbClr val="000000"/>
                </a:solidFill>
                <a:latin typeface="DengXian"/>
                <a:ea typeface="DengXi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>
          <a:noAutofit/>
        </a:bodyPr>
        <a:lstStyle/>
        <a:p>
          <a:pPr>
            <a:defRPr sz="1100">
              <a:latin typeface="DengXian"/>
              <a:cs typeface="DengXian"/>
              <a:ea typeface="DengXi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所有项目、社区与数字均为虚构演示。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所有项目、社区与数字均为虚构演示。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所有项目、社区与数字均为虚构演示。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所有项目、社区与数字均为虚构演示。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所有项目、社区与数字均为虚构演示。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所有项目、社区与数字均为虚构演示。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DengXian"/>
          <a:ea typeface="DengXian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DengXian"/>
          <a:ea typeface="DengXian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DengXian"/>
          <a:ea typeface="DengXian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DengXian"/>
          <a:ea typeface="DengXian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DengXian"/>
          <a:ea typeface="DengXian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DengXian"/>
          <a:ea typeface="DengXian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32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四项动作，让社区阅读计划从想法走向可核验的试点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peer-0-disc"/>
          <p:cNvSpPr/>
          <p:nvPr/>
        </p:nvSpPr>
        <p:spPr>
          <a:xfrm>
            <a:off x="1261872" y="1956816"/>
            <a:ext cx="978408" cy="941832"/>
          </a:xfrm>
          <a:prstGeom prst="ellipse">
            <a:avLst/>
          </a:prstGeom>
          <a:solidFill>
            <a:srgbClr val="91B5E0"/>
          </a:solidFill>
          <a:ln w="8890">
            <a:solidFill>
              <a:srgbClr val="91B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64538" y="2150669"/>
            <a:ext cx="159106" cy="15910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5940" y="2200046"/>
            <a:ext cx="131674" cy="131674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498702" y="2430475"/>
            <a:ext cx="76810" cy="126187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5511" y="2430475"/>
            <a:ext cx="153619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29130" y="2430475"/>
            <a:ext cx="76810" cy="126187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794967" y="2474366"/>
            <a:ext cx="82296" cy="148133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7263" y="2474366"/>
            <a:ext cx="98755" cy="93269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4" name="peer-0-pill"/>
          <p:cNvSpPr/>
          <p:nvPr/>
        </p:nvSpPr>
        <p:spPr>
          <a:xfrm>
            <a:off x="818388" y="3054096"/>
            <a:ext cx="1865376" cy="459232"/>
          </a:xfrm>
          <a:prstGeom prst="roundRect">
            <a:avLst>
              <a:gd name="adj" fmla="val 31858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15" name="peer-0-heading"/>
          <p:cNvSpPr/>
          <p:nvPr/>
        </p:nvSpPr>
        <p:spPr>
          <a:xfrm>
            <a:off x="900684" y="3118104"/>
            <a:ext cx="1700784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了解需求</a:t>
            </a:r>
            <a:endParaRPr lang="zh-CN" sz="2000" dirty="0"/>
          </a:p>
        </p:txBody>
      </p:sp>
      <p:sp>
        <p:nvSpPr>
          <p:cNvPr id="16" name="peer-0-action"/>
          <p:cNvSpPr/>
          <p:nvPr/>
        </p:nvSpPr>
        <p:spPr>
          <a:xfrm>
            <a:off x="429768" y="3659632"/>
            <a:ext cx="2642616" cy="49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8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找到共同问题</a:t>
            </a:r>
            <a:endParaRPr lang="zh-CN" sz="2800" dirty="0"/>
          </a:p>
        </p:txBody>
      </p:sp>
      <p:sp>
        <p:nvSpPr>
          <p:cNvPr id="17" name="peer-0-body"/>
          <p:cNvSpPr/>
          <p:nvPr/>
        </p:nvSpPr>
        <p:spPr>
          <a:xfrm>
            <a:off x="429768" y="4355592"/>
            <a:ext cx="264261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收集参与者对时间、空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间和活动形式的偏好，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记录需求与限制。</a:t>
            </a:r>
            <a:endParaRPr lang="zh-CN" sz="1800" dirty="0"/>
          </a:p>
        </p:txBody>
      </p:sp>
      <p:sp>
        <p:nvSpPr>
          <p:cNvPr id="18" name="Shape 16"/>
          <p:cNvSpPr/>
          <p:nvPr/>
        </p:nvSpPr>
        <p:spPr>
          <a:xfrm>
            <a:off x="3200400" y="1865376"/>
            <a:ext cx="0" cy="3017520"/>
          </a:xfrm>
          <a:prstGeom prst="line">
            <a:avLst/>
          </a:prstGeom>
          <a:noFill/>
          <a:ln w="12700">
            <a:solidFill>
              <a:srgbClr val="5754B6"/>
            </a:solidFill>
            <a:prstDash val="solid"/>
          </a:ln>
        </p:spPr>
      </p:sp>
      <p:sp>
        <p:nvSpPr>
          <p:cNvPr id="19" name="peer-1-disc"/>
          <p:cNvSpPr/>
          <p:nvPr/>
        </p:nvSpPr>
        <p:spPr>
          <a:xfrm>
            <a:off x="4160520" y="1956816"/>
            <a:ext cx="978408" cy="941832"/>
          </a:xfrm>
          <a:prstGeom prst="ellipse">
            <a:avLst/>
          </a:prstGeom>
          <a:solidFill>
            <a:srgbClr val="91B5E0"/>
          </a:solidFill>
          <a:ln w="8890">
            <a:solidFill>
              <a:srgbClr val="91B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24782" y="2167128"/>
            <a:ext cx="340157" cy="318211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12564" y="2276856"/>
            <a:ext cx="340157" cy="318211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peer-1-pill"/>
          <p:cNvSpPr/>
          <p:nvPr/>
        </p:nvSpPr>
        <p:spPr>
          <a:xfrm>
            <a:off x="3717036" y="3054096"/>
            <a:ext cx="1865376" cy="459232"/>
          </a:xfrm>
          <a:prstGeom prst="roundRect">
            <a:avLst>
              <a:gd name="adj" fmla="val 31858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23" name="peer-1-heading"/>
          <p:cNvSpPr/>
          <p:nvPr/>
        </p:nvSpPr>
        <p:spPr>
          <a:xfrm>
            <a:off x="3799332" y="3118104"/>
            <a:ext cx="1700784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设计服务</a:t>
            </a:r>
            <a:endParaRPr lang="zh-CN" sz="2000" dirty="0"/>
          </a:p>
        </p:txBody>
      </p:sp>
      <p:sp>
        <p:nvSpPr>
          <p:cNvPr id="24" name="peer-1-action"/>
          <p:cNvSpPr/>
          <p:nvPr/>
        </p:nvSpPr>
        <p:spPr>
          <a:xfrm>
            <a:off x="3328416" y="3659632"/>
            <a:ext cx="2642616" cy="49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8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形成活动方案</a:t>
            </a:r>
            <a:endParaRPr lang="zh-CN" sz="2800" dirty="0"/>
          </a:p>
        </p:txBody>
      </p:sp>
      <p:sp>
        <p:nvSpPr>
          <p:cNvPr id="25" name="peer-1-body"/>
          <p:cNvSpPr/>
          <p:nvPr/>
        </p:nvSpPr>
        <p:spPr>
          <a:xfrm>
            <a:off x="3328416" y="4355592"/>
            <a:ext cx="264261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把需求转为场次、材料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和服务清单，注明分工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与准备时间。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6099048" y="1865376"/>
            <a:ext cx="0" cy="3017520"/>
          </a:xfrm>
          <a:prstGeom prst="line">
            <a:avLst/>
          </a:prstGeom>
          <a:noFill/>
          <a:ln w="12700">
            <a:solidFill>
              <a:srgbClr val="5754B6"/>
            </a:solidFill>
            <a:prstDash val="solid"/>
          </a:ln>
        </p:spPr>
      </p:sp>
      <p:sp>
        <p:nvSpPr>
          <p:cNvPr id="27" name="peer-2-disc"/>
          <p:cNvSpPr/>
          <p:nvPr/>
        </p:nvSpPr>
        <p:spPr>
          <a:xfrm>
            <a:off x="7059168" y="1956816"/>
            <a:ext cx="978408" cy="941832"/>
          </a:xfrm>
          <a:prstGeom prst="ellipse">
            <a:avLst/>
          </a:prstGeom>
          <a:solidFill>
            <a:srgbClr val="91B5E0"/>
          </a:solidFill>
          <a:ln w="8890">
            <a:solidFill>
              <a:srgbClr val="91B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56348" y="2205533"/>
            <a:ext cx="373075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49617" y="2150669"/>
            <a:ext cx="186538" cy="115214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4130" y="2359152"/>
            <a:ext cx="192024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4130" y="2468880"/>
            <a:ext cx="192024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44130" y="2573122"/>
            <a:ext cx="192024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3" name="peer-2-pill"/>
          <p:cNvSpPr/>
          <p:nvPr/>
        </p:nvSpPr>
        <p:spPr>
          <a:xfrm>
            <a:off x="6615684" y="3054096"/>
            <a:ext cx="1865376" cy="459232"/>
          </a:xfrm>
          <a:prstGeom prst="roundRect">
            <a:avLst>
              <a:gd name="adj" fmla="val 31858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34" name="peer-2-heading"/>
          <p:cNvSpPr/>
          <p:nvPr/>
        </p:nvSpPr>
        <p:spPr>
          <a:xfrm>
            <a:off x="6697980" y="3118104"/>
            <a:ext cx="1700784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组织试点</a:t>
            </a:r>
            <a:endParaRPr lang="zh-CN" sz="2000" dirty="0"/>
          </a:p>
        </p:txBody>
      </p:sp>
      <p:sp>
        <p:nvSpPr>
          <p:cNvPr id="35" name="peer-2-action"/>
          <p:cNvSpPr/>
          <p:nvPr/>
        </p:nvSpPr>
        <p:spPr>
          <a:xfrm>
            <a:off x="6227064" y="3659632"/>
            <a:ext cx="2642616" cy="49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8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保留执行记录</a:t>
            </a:r>
            <a:endParaRPr lang="zh-CN" sz="2800" dirty="0"/>
          </a:p>
        </p:txBody>
      </p:sp>
      <p:sp>
        <p:nvSpPr>
          <p:cNvPr id="36" name="peer-2-body"/>
          <p:cNvSpPr/>
          <p:nvPr/>
        </p:nvSpPr>
        <p:spPr>
          <a:xfrm>
            <a:off x="6227064" y="4355592"/>
            <a:ext cx="264261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按小规模方案试运行，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记录参与、反馈与需要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调整的事项。</a:t>
            </a:r>
            <a:endParaRPr lang="zh-CN" sz="1800" dirty="0"/>
          </a:p>
        </p:txBody>
      </p:sp>
      <p:sp>
        <p:nvSpPr>
          <p:cNvPr id="37" name="Shape 35"/>
          <p:cNvSpPr/>
          <p:nvPr/>
        </p:nvSpPr>
        <p:spPr>
          <a:xfrm>
            <a:off x="8997696" y="1865376"/>
            <a:ext cx="0" cy="3017520"/>
          </a:xfrm>
          <a:prstGeom prst="line">
            <a:avLst/>
          </a:prstGeom>
          <a:noFill/>
          <a:ln w="12700">
            <a:solidFill>
              <a:srgbClr val="5754B6"/>
            </a:solidFill>
            <a:prstDash val="solid"/>
          </a:ln>
        </p:spPr>
      </p:sp>
      <p:sp>
        <p:nvSpPr>
          <p:cNvPr id="38" name="peer-3-disc"/>
          <p:cNvSpPr/>
          <p:nvPr/>
        </p:nvSpPr>
        <p:spPr>
          <a:xfrm>
            <a:off x="9957816" y="1956816"/>
            <a:ext cx="978408" cy="941832"/>
          </a:xfrm>
          <a:prstGeom prst="ellipse">
            <a:avLst/>
          </a:prstGeom>
          <a:solidFill>
            <a:srgbClr val="91B5E0"/>
          </a:solidFill>
          <a:ln w="8890">
            <a:solidFill>
              <a:srgbClr val="91B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16591" y="2183587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20833" y="2287829"/>
            <a:ext cx="230429" cy="230429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10436047" y="2156155"/>
            <a:ext cx="252374" cy="246888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89666" y="2156155"/>
            <a:ext cx="98755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88422" y="2156155"/>
            <a:ext cx="0" cy="98755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44" name="peer-3-pill"/>
          <p:cNvSpPr/>
          <p:nvPr/>
        </p:nvSpPr>
        <p:spPr>
          <a:xfrm>
            <a:off x="9514332" y="3054096"/>
            <a:ext cx="1865376" cy="459232"/>
          </a:xfrm>
          <a:prstGeom prst="roundRect">
            <a:avLst>
              <a:gd name="adj" fmla="val 31858"/>
            </a:avLst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5" name="peer-3-heading"/>
          <p:cNvSpPr/>
          <p:nvPr/>
        </p:nvSpPr>
        <p:spPr>
          <a:xfrm>
            <a:off x="9596628" y="3118104"/>
            <a:ext cx="1700784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复盘扩展</a:t>
            </a:r>
            <a:endParaRPr lang="zh-CN" sz="2000" dirty="0"/>
          </a:p>
        </p:txBody>
      </p:sp>
      <p:sp>
        <p:nvSpPr>
          <p:cNvPr id="46" name="peer-3-action"/>
          <p:cNvSpPr/>
          <p:nvPr/>
        </p:nvSpPr>
        <p:spPr>
          <a:xfrm>
            <a:off x="9125712" y="3659632"/>
            <a:ext cx="2642616" cy="49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8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核验实际结果</a:t>
            </a:r>
            <a:endParaRPr lang="zh-CN" sz="2800" dirty="0"/>
          </a:p>
        </p:txBody>
      </p:sp>
      <p:sp>
        <p:nvSpPr>
          <p:cNvPr id="47" name="peer-3-body"/>
          <p:cNvSpPr/>
          <p:nvPr/>
        </p:nvSpPr>
        <p:spPr>
          <a:xfrm>
            <a:off x="9125712" y="4355592"/>
            <a:ext cx="264261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按预先约定的指标复核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结果，再决定是否扩大</a:t>
            </a:r>
            <a:endParaRPr lang="zh-CN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活动范围。</a:t>
            </a:r>
            <a:endParaRPr lang="zh-CN" sz="1800" dirty="0"/>
          </a:p>
        </p:txBody>
      </p:sp>
      <p:sp>
        <p:nvSpPr>
          <p:cNvPr id="48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所有项目、社区与数字均为虚构演示。</a:t>
            </a:r>
            <a:endParaRPr lang="zh-CN" sz="800" dirty="0"/>
          </a:p>
        </p:txBody>
      </p:sp>
      <p:sp>
        <p:nvSpPr>
          <p:cNvPr id="49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01</a:t>
            </a:r>
            <a:endParaRPr lang="zh-CN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32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一套共用能力，支撑三类阅读服务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6200000">
            <a:off x="1645920" y="1920240"/>
            <a:ext cx="2377440" cy="3931920"/>
          </a:xfrm>
          <a:prstGeom prst="triangle">
            <a:avLst/>
          </a:prstGeom>
          <a:solidFill>
            <a:srgbClr val="E1EBF6">
              <a:alpha val="55000"/>
            </a:srgbClr>
          </a:solidFill>
          <a:ln w="12700">
            <a:solidFill>
              <a:srgbClr val="E1EB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679192"/>
            <a:ext cx="2606040" cy="2633472"/>
          </a:xfrm>
          <a:prstGeom prst="ellipse">
            <a:avLst/>
          </a:prstGeom>
          <a:solidFill>
            <a:srgbClr val="FFFFFF">
              <a:alpha val="0"/>
            </a:srgbClr>
          </a:solidFill>
          <a:ln w="5080">
            <a:solidFill>
              <a:srgbClr val="91AA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532888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5080">
            <a:solidFill>
              <a:srgbClr val="91AADE"/>
            </a:solidFill>
            <a:prstDash val="solid"/>
          </a:ln>
        </p:spPr>
      </p:sp>
      <p:sp>
        <p:nvSpPr>
          <p:cNvPr id="9" name="shared-hub-sphere"/>
          <p:cNvSpPr/>
          <p:nvPr/>
        </p:nvSpPr>
        <p:spPr>
          <a:xfrm>
            <a:off x="731520" y="2898648"/>
            <a:ext cx="2176272" cy="2203704"/>
          </a:xfrm>
          <a:prstGeom prst="ellipse">
            <a:avLst/>
          </a:prstGeom>
          <a:gradFill rotWithShape="1">
            <a:gsLst>
              <a:gs pos="0">
                <a:srgbClr val="659FE4"/>
              </a:gs>
              <a:gs pos="100000">
                <a:srgbClr val="1A478C"/>
              </a:gs>
            </a:gsLst>
            <a:lin ang="5400000" scaled="1"/>
          </a:gradFill>
          <a:ln w="38000">
            <a:solidFill>
              <a:srgbClr val="E8F1FF"/>
            </a:solidFill>
          </a:ln>
          <a:effectLst>
            <a:outerShdw blurRad="180000" dist="50000" dir="5400000" algn="ctr" rotWithShape="0">
              <a:srgbClr val="173C72">
                <a:alpha val="14000"/>
              </a:srgbClr>
            </a:outerShdw>
          </a:effectLst>
        </p:spPr>
      </p:sp>
      <p:sp>
        <p:nvSpPr>
          <p:cNvPr id="10" name="hub-title"/>
          <p:cNvSpPr/>
          <p:nvPr/>
        </p:nvSpPr>
        <p:spPr>
          <a:xfrm>
            <a:off x="841248" y="3466719"/>
            <a:ext cx="2011680" cy="399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b="1" dirty="0">
                <a:solidFill>
                  <a:srgbClr val="FFC00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社区阅读服务</a:t>
            </a:r>
            <a:endParaRPr lang="zh-CN" sz="2200" dirty="0"/>
          </a:p>
        </p:txBody>
      </p:sp>
      <p:sp>
        <p:nvSpPr>
          <p:cNvPr id="11" name="hub-body"/>
          <p:cNvSpPr/>
          <p:nvPr/>
        </p:nvSpPr>
        <p:spPr>
          <a:xfrm>
            <a:off x="841248" y="3975989"/>
            <a:ext cx="201168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共用资源</a:t>
            </a:r>
            <a:endParaRPr lang="zh-CN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协同组织</a:t>
            </a:r>
            <a:endParaRPr lang="zh-CN" sz="1600" dirty="0"/>
          </a:p>
        </p:txBody>
      </p:sp>
      <p:sp>
        <p:nvSpPr>
          <p:cNvPr id="12" name="branch-1-disc"/>
          <p:cNvSpPr/>
          <p:nvPr/>
        </p:nvSpPr>
        <p:spPr>
          <a:xfrm>
            <a:off x="3950208" y="1947672"/>
            <a:ext cx="502920" cy="502920"/>
          </a:xfrm>
          <a:prstGeom prst="ellipse">
            <a:avLst/>
          </a:prstGeom>
          <a:solidFill>
            <a:srgbClr val="3F8DD1"/>
          </a:solidFill>
          <a:ln w="8890">
            <a:solidFill>
              <a:srgbClr val="3F8D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00535" y="2045330"/>
            <a:ext cx="90160" cy="9016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37330" y="2073311"/>
            <a:ext cx="74615" cy="74615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063228" y="2203887"/>
            <a:ext cx="43525" cy="71506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06753" y="2203887"/>
            <a:ext cx="87051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93804" y="2203887"/>
            <a:ext cx="43525" cy="71506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231112" y="2228759"/>
            <a:ext cx="46634" cy="83942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7746" y="2228759"/>
            <a:ext cx="55961" cy="52852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20" name="branch-1-pill"/>
          <p:cNvSpPr/>
          <p:nvPr/>
        </p:nvSpPr>
        <p:spPr>
          <a:xfrm>
            <a:off x="4718304" y="1947672"/>
            <a:ext cx="3813048" cy="477520"/>
          </a:xfrm>
          <a:prstGeom prst="roundRect">
            <a:avLst>
              <a:gd name="adj" fmla="val 30638"/>
            </a:avLst>
          </a:prstGeom>
          <a:solidFill>
            <a:srgbClr val="FFFFFF"/>
          </a:solidFill>
          <a:ln w="9000">
            <a:solidFill>
              <a:srgbClr val="DAE5F5"/>
            </a:solidFill>
          </a:ln>
          <a:effectLst>
            <a:outerShdw blurRad="180000" dist="50000" dir="5400000" algn="ctr" rotWithShape="0">
              <a:srgbClr val="1F4A86">
                <a:alpha val="14000"/>
              </a:srgbClr>
            </a:outerShdw>
          </a:effectLst>
        </p:spPr>
      </p:sp>
      <p:sp>
        <p:nvSpPr>
          <p:cNvPr id="21" name="branch-1-heading"/>
          <p:cNvSpPr/>
          <p:nvPr/>
        </p:nvSpPr>
        <p:spPr>
          <a:xfrm>
            <a:off x="4800600" y="2002536"/>
            <a:ext cx="3648456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资源共享</a:t>
            </a:r>
            <a:endParaRPr lang="zh-CN" sz="2000" dirty="0"/>
          </a:p>
        </p:txBody>
      </p:sp>
      <p:sp>
        <p:nvSpPr>
          <p:cNvPr id="22" name="branch-bullet-1-0"/>
          <p:cNvSpPr/>
          <p:nvPr/>
        </p:nvSpPr>
        <p:spPr>
          <a:xfrm>
            <a:off x="4636008" y="2626360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23" name="branch-1-body"/>
          <p:cNvSpPr/>
          <p:nvPr/>
        </p:nvSpPr>
        <p:spPr>
          <a:xfrm>
            <a:off x="4800600" y="2534920"/>
            <a:ext cx="690372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统一整理可公开使用的图书、场地与活动材料，注明来源和可用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时间。</a:t>
            </a:r>
            <a:endParaRPr lang="zh-CN" sz="1800" dirty="0"/>
          </a:p>
        </p:txBody>
      </p:sp>
      <p:sp>
        <p:nvSpPr>
          <p:cNvPr id="24" name="branch-2-disc"/>
          <p:cNvSpPr/>
          <p:nvPr/>
        </p:nvSpPr>
        <p:spPr>
          <a:xfrm>
            <a:off x="3950208" y="3607054"/>
            <a:ext cx="502920" cy="502920"/>
          </a:xfrm>
          <a:prstGeom prst="ellipse">
            <a:avLst/>
          </a:prstGeom>
          <a:solidFill>
            <a:srgbClr val="3F8DD1"/>
          </a:solidFill>
          <a:ln w="8890">
            <a:solidFill>
              <a:srgbClr val="3F8D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75664" y="3723366"/>
            <a:ext cx="248717" cy="248717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34734" y="3782436"/>
            <a:ext cx="130576" cy="130576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200022" y="3707821"/>
            <a:ext cx="143012" cy="139903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87073" y="3707821"/>
            <a:ext cx="55961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034" y="3707821"/>
            <a:ext cx="0" cy="55961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0" name="branch-2-pill"/>
          <p:cNvSpPr/>
          <p:nvPr/>
        </p:nvSpPr>
        <p:spPr>
          <a:xfrm>
            <a:off x="4718304" y="3607054"/>
            <a:ext cx="3813048" cy="477520"/>
          </a:xfrm>
          <a:prstGeom prst="roundRect">
            <a:avLst>
              <a:gd name="adj" fmla="val 30638"/>
            </a:avLst>
          </a:prstGeom>
          <a:solidFill>
            <a:srgbClr val="FFFFFF"/>
          </a:solidFill>
          <a:ln w="9000">
            <a:solidFill>
              <a:srgbClr val="DAE5F5"/>
            </a:solidFill>
          </a:ln>
          <a:effectLst>
            <a:outerShdw blurRad="180000" dist="50000" dir="5400000" algn="ctr" rotWithShape="0">
              <a:srgbClr val="1F4A86">
                <a:alpha val="14000"/>
              </a:srgbClr>
            </a:outerShdw>
          </a:effectLst>
        </p:spPr>
      </p:sp>
      <p:sp>
        <p:nvSpPr>
          <p:cNvPr id="31" name="branch-2-heading"/>
          <p:cNvSpPr/>
          <p:nvPr/>
        </p:nvSpPr>
        <p:spPr>
          <a:xfrm>
            <a:off x="4800600" y="3661918"/>
            <a:ext cx="3648456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活动协同</a:t>
            </a:r>
            <a:endParaRPr lang="zh-CN" sz="2000" dirty="0"/>
          </a:p>
        </p:txBody>
      </p:sp>
      <p:sp>
        <p:nvSpPr>
          <p:cNvPr id="32" name="branch-bullet-2-0"/>
          <p:cNvSpPr/>
          <p:nvPr/>
        </p:nvSpPr>
        <p:spPr>
          <a:xfrm>
            <a:off x="4636008" y="4285742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33" name="branch-2-body"/>
          <p:cNvSpPr/>
          <p:nvPr/>
        </p:nvSpPr>
        <p:spPr>
          <a:xfrm>
            <a:off x="4800600" y="4194302"/>
            <a:ext cx="6903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围绕不同参与群体组织活动，明确主责、交接节点与反馈渠道。</a:t>
            </a:r>
            <a:endParaRPr lang="zh-CN" sz="1800" dirty="0"/>
          </a:p>
        </p:txBody>
      </p:sp>
      <p:sp>
        <p:nvSpPr>
          <p:cNvPr id="34" name="branch-3-disc"/>
          <p:cNvSpPr/>
          <p:nvPr/>
        </p:nvSpPr>
        <p:spPr>
          <a:xfrm>
            <a:off x="3950208" y="5024374"/>
            <a:ext cx="502920" cy="502920"/>
          </a:xfrm>
          <a:prstGeom prst="ellipse">
            <a:avLst/>
          </a:prstGeom>
          <a:solidFill>
            <a:srgbClr val="3F8DD1"/>
          </a:solidFill>
          <a:ln w="8890">
            <a:solidFill>
              <a:srgbClr val="3F8D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78773" y="5131359"/>
            <a:ext cx="192756" cy="18032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28516" y="5193538"/>
            <a:ext cx="192756" cy="18032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branch-3-pill"/>
          <p:cNvSpPr/>
          <p:nvPr/>
        </p:nvSpPr>
        <p:spPr>
          <a:xfrm>
            <a:off x="4718304" y="5024374"/>
            <a:ext cx="3813048" cy="477520"/>
          </a:xfrm>
          <a:prstGeom prst="roundRect">
            <a:avLst>
              <a:gd name="adj" fmla="val 30638"/>
            </a:avLst>
          </a:prstGeom>
          <a:solidFill>
            <a:srgbClr val="FFFFFF"/>
          </a:solidFill>
          <a:ln w="9000">
            <a:solidFill>
              <a:srgbClr val="DAE5F5"/>
            </a:solidFill>
          </a:ln>
          <a:effectLst>
            <a:outerShdw blurRad="180000" dist="50000" dir="5400000" algn="ctr" rotWithShape="0">
              <a:srgbClr val="1F4A86">
                <a:alpha val="14000"/>
              </a:srgbClr>
            </a:outerShdw>
          </a:effectLst>
        </p:spPr>
      </p:sp>
      <p:sp>
        <p:nvSpPr>
          <p:cNvPr id="38" name="branch-3-heading"/>
          <p:cNvSpPr/>
          <p:nvPr/>
        </p:nvSpPr>
        <p:spPr>
          <a:xfrm>
            <a:off x="4800600" y="5079238"/>
            <a:ext cx="3648456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结果复盘</a:t>
            </a:r>
            <a:endParaRPr lang="zh-CN" sz="2000" dirty="0"/>
          </a:p>
        </p:txBody>
      </p:sp>
      <p:sp>
        <p:nvSpPr>
          <p:cNvPr id="39" name="branch-bullet-3-0"/>
          <p:cNvSpPr/>
          <p:nvPr/>
        </p:nvSpPr>
        <p:spPr>
          <a:xfrm>
            <a:off x="4636008" y="5703062"/>
            <a:ext cx="41148" cy="4114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40" name="branch-3-body"/>
          <p:cNvSpPr/>
          <p:nvPr/>
        </p:nvSpPr>
        <p:spPr>
          <a:xfrm>
            <a:off x="4800600" y="5611622"/>
            <a:ext cx="690372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依据参与、满意度和持续使用情况复盘，保留变化原因与改进动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作。</a:t>
            </a:r>
            <a:endParaRPr lang="zh-CN" sz="1800" dirty="0"/>
          </a:p>
        </p:txBody>
      </p:sp>
      <p:sp>
        <p:nvSpPr>
          <p:cNvPr id="41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所有项目、社区与数字均为虚构演示。</a:t>
            </a:r>
            <a:endParaRPr lang="zh-CN" sz="800" dirty="0"/>
          </a:p>
        </p:txBody>
      </p:sp>
      <p:sp>
        <p:nvSpPr>
          <p:cNvPr id="42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02</a:t>
            </a:r>
            <a:endParaRPr lang="zh-CN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32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把观察依据与行动含义放在同一行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zone-0"/>
          <p:cNvSpPr/>
          <p:nvPr/>
        </p:nvSpPr>
        <p:spPr>
          <a:xfrm>
            <a:off x="356616" y="1188720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主题</a:t>
            </a:r>
            <a:endParaRPr lang="zh-CN" sz="2200" dirty="0"/>
          </a:p>
        </p:txBody>
      </p:sp>
      <p:sp>
        <p:nvSpPr>
          <p:cNvPr id="7" name="Shape 5"/>
          <p:cNvSpPr/>
          <p:nvPr/>
        </p:nvSpPr>
        <p:spPr>
          <a:xfrm>
            <a:off x="356616" y="1609344"/>
            <a:ext cx="1728216" cy="0"/>
          </a:xfrm>
          <a:prstGeom prst="line">
            <a:avLst/>
          </a:prstGeom>
          <a:noFill/>
          <a:ln w="12700">
            <a:solidFill>
              <a:srgbClr val="3479C9"/>
            </a:solidFill>
            <a:prstDash val="solid"/>
          </a:ln>
        </p:spPr>
      </p:sp>
      <p:sp>
        <p:nvSpPr>
          <p:cNvPr id="8" name="zone-1"/>
          <p:cNvSpPr/>
          <p:nvPr/>
        </p:nvSpPr>
        <p:spPr>
          <a:xfrm>
            <a:off x="2350008" y="1188720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b="1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核验依据</a:t>
            </a:r>
            <a:endParaRPr lang="zh-CN" sz="2200" dirty="0"/>
          </a:p>
        </p:txBody>
      </p:sp>
      <p:sp>
        <p:nvSpPr>
          <p:cNvPr id="9" name="Shape 7"/>
          <p:cNvSpPr/>
          <p:nvPr/>
        </p:nvSpPr>
        <p:spPr>
          <a:xfrm>
            <a:off x="2350008" y="1609344"/>
            <a:ext cx="5650992" cy="0"/>
          </a:xfrm>
          <a:prstGeom prst="line">
            <a:avLst/>
          </a:prstGeom>
          <a:noFill/>
          <a:ln w="12700">
            <a:solidFill>
              <a:srgbClr val="3479C9"/>
            </a:solidFill>
            <a:prstDash val="solid"/>
          </a:ln>
        </p:spPr>
      </p:sp>
      <p:sp>
        <p:nvSpPr>
          <p:cNvPr id="10" name="zone-2"/>
          <p:cNvSpPr/>
          <p:nvPr/>
        </p:nvSpPr>
        <p:spPr>
          <a:xfrm>
            <a:off x="8229600" y="1188720"/>
            <a:ext cx="3557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执行含义</a:t>
            </a:r>
            <a:endParaRPr lang="zh-CN" sz="2200" dirty="0"/>
          </a:p>
        </p:txBody>
      </p:sp>
      <p:sp>
        <p:nvSpPr>
          <p:cNvPr id="11" name="Shape 9"/>
          <p:cNvSpPr/>
          <p:nvPr/>
        </p:nvSpPr>
        <p:spPr>
          <a:xfrm>
            <a:off x="8229600" y="1609344"/>
            <a:ext cx="3557016" cy="0"/>
          </a:xfrm>
          <a:prstGeom prst="line">
            <a:avLst/>
          </a:prstGeom>
          <a:noFill/>
          <a:ln w="12700">
            <a:solidFill>
              <a:srgbClr val="3479C9"/>
            </a:solidFill>
            <a:prstDash val="solid"/>
          </a:ln>
        </p:spPr>
      </p:sp>
      <p:sp>
        <p:nvSpPr>
          <p:cNvPr id="12" name="evidence-bg-1"/>
          <p:cNvSpPr/>
          <p:nvPr/>
        </p:nvSpPr>
        <p:spPr>
          <a:xfrm>
            <a:off x="2350008" y="1856232"/>
            <a:ext cx="5650992" cy="1225296"/>
          </a:xfrm>
          <a:prstGeom prst="rect">
            <a:avLst/>
          </a:prstGeom>
          <a:solidFill>
            <a:srgbClr val="EFF5FA"/>
          </a:solidFill>
          <a:ln w="8890">
            <a:solidFill>
              <a:srgbClr val="EFF5FA"/>
            </a:solidFill>
            <a:prstDash val="solid"/>
          </a:ln>
        </p:spPr>
      </p:sp>
      <p:sp>
        <p:nvSpPr>
          <p:cNvPr id="13" name="evidence-tag-1"/>
          <p:cNvSpPr/>
          <p:nvPr/>
        </p:nvSpPr>
        <p:spPr>
          <a:xfrm>
            <a:off x="356616" y="1929384"/>
            <a:ext cx="1728216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D1E5F5"/>
            </a:solidFill>
            <a:prstDash val="solid"/>
          </a:ln>
        </p:spPr>
      </p:sp>
      <p:sp>
        <p:nvSpPr>
          <p:cNvPr id="14" name="evidence-1-label"/>
          <p:cNvSpPr/>
          <p:nvPr/>
        </p:nvSpPr>
        <p:spPr>
          <a:xfrm>
            <a:off x="539496" y="2039112"/>
            <a:ext cx="1252728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覆盖范围</a:t>
            </a:r>
            <a:endParaRPr lang="zh-CN" sz="2000" dirty="0"/>
          </a:p>
        </p:txBody>
      </p:sp>
      <p:sp>
        <p:nvSpPr>
          <p:cNvPr id="15" name="evidence-1-evidence"/>
          <p:cNvSpPr/>
          <p:nvPr/>
        </p:nvSpPr>
        <p:spPr>
          <a:xfrm>
            <a:off x="2624328" y="19933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虚构试点覆盖4个社区，共举办12场活动。</a:t>
            </a:r>
            <a:endParaRPr lang="zh-CN" sz="1800" dirty="0"/>
          </a:p>
        </p:txBody>
      </p:sp>
      <p:sp>
        <p:nvSpPr>
          <p:cNvPr id="16" name="evidence-1-implication"/>
          <p:cNvSpPr/>
          <p:nvPr/>
        </p:nvSpPr>
        <p:spPr>
          <a:xfrm>
            <a:off x="8321040" y="1993392"/>
            <a:ext cx="338328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先核对活动记录，再讨论是否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扩大范围。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48056" y="3154680"/>
            <a:ext cx="11155680" cy="0"/>
          </a:xfrm>
          <a:prstGeom prst="line">
            <a:avLst/>
          </a:prstGeom>
          <a:noFill/>
          <a:ln w="7620">
            <a:solidFill>
              <a:srgbClr val="969DA8"/>
            </a:solidFill>
            <a:prstDash val="dash"/>
          </a:ln>
        </p:spPr>
      </p:sp>
      <p:sp>
        <p:nvSpPr>
          <p:cNvPr id="18" name="evidence-bg-2"/>
          <p:cNvSpPr/>
          <p:nvPr/>
        </p:nvSpPr>
        <p:spPr>
          <a:xfrm>
            <a:off x="2350008" y="3227832"/>
            <a:ext cx="5650992" cy="1225296"/>
          </a:xfrm>
          <a:prstGeom prst="rect">
            <a:avLst/>
          </a:prstGeom>
          <a:solidFill>
            <a:srgbClr val="EFF5FA"/>
          </a:solidFill>
          <a:ln w="8890">
            <a:solidFill>
              <a:srgbClr val="EFF5FA"/>
            </a:solidFill>
            <a:prstDash val="solid"/>
          </a:ln>
        </p:spPr>
      </p:sp>
      <p:sp>
        <p:nvSpPr>
          <p:cNvPr id="19" name="evidence-tag-2"/>
          <p:cNvSpPr/>
          <p:nvPr/>
        </p:nvSpPr>
        <p:spPr>
          <a:xfrm>
            <a:off x="356616" y="3300984"/>
            <a:ext cx="1728216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D1E5F5"/>
            </a:solidFill>
            <a:prstDash val="solid"/>
          </a:ln>
        </p:spPr>
      </p:sp>
      <p:sp>
        <p:nvSpPr>
          <p:cNvPr id="20" name="evidence-2-label"/>
          <p:cNvSpPr/>
          <p:nvPr/>
        </p:nvSpPr>
        <p:spPr>
          <a:xfrm>
            <a:off x="539496" y="3410712"/>
            <a:ext cx="1252728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组织效率</a:t>
            </a:r>
            <a:endParaRPr lang="zh-CN" sz="2000" dirty="0"/>
          </a:p>
        </p:txBody>
      </p:sp>
      <p:sp>
        <p:nvSpPr>
          <p:cNvPr id="21" name="evidence-2-evidence"/>
          <p:cNvSpPr/>
          <p:nvPr/>
        </p:nvSpPr>
        <p:spPr>
          <a:xfrm>
            <a:off x="2624328" y="33649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虚构材料准备周期从6天缩短至4天。</a:t>
            </a:r>
            <a:endParaRPr lang="zh-CN" sz="1800" dirty="0"/>
          </a:p>
        </p:txBody>
      </p:sp>
      <p:sp>
        <p:nvSpPr>
          <p:cNvPr id="22" name="evidence-2-implication"/>
          <p:cNvSpPr/>
          <p:nvPr/>
        </p:nvSpPr>
        <p:spPr>
          <a:xfrm>
            <a:off x="8321040" y="3364992"/>
            <a:ext cx="338328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保留准备步骤和责任交接，复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核变化原因。</a:t>
            </a:r>
            <a:endParaRPr lang="zh-CN" sz="1800" dirty="0"/>
          </a:p>
        </p:txBody>
      </p:sp>
      <p:sp>
        <p:nvSpPr>
          <p:cNvPr id="23" name="Shape 21"/>
          <p:cNvSpPr/>
          <p:nvPr/>
        </p:nvSpPr>
        <p:spPr>
          <a:xfrm>
            <a:off x="448056" y="4526280"/>
            <a:ext cx="11155680" cy="0"/>
          </a:xfrm>
          <a:prstGeom prst="line">
            <a:avLst/>
          </a:prstGeom>
          <a:noFill/>
          <a:ln w="7620">
            <a:solidFill>
              <a:srgbClr val="969DA8"/>
            </a:solidFill>
            <a:prstDash val="dash"/>
          </a:ln>
        </p:spPr>
      </p:sp>
      <p:sp>
        <p:nvSpPr>
          <p:cNvPr id="24" name="evidence-bg-3"/>
          <p:cNvSpPr/>
          <p:nvPr/>
        </p:nvSpPr>
        <p:spPr>
          <a:xfrm>
            <a:off x="2350008" y="4599432"/>
            <a:ext cx="5650992" cy="1225296"/>
          </a:xfrm>
          <a:prstGeom prst="rect">
            <a:avLst/>
          </a:prstGeom>
          <a:solidFill>
            <a:srgbClr val="EFF5FA"/>
          </a:solidFill>
          <a:ln w="8890">
            <a:solidFill>
              <a:srgbClr val="EFF5FA"/>
            </a:solidFill>
            <a:prstDash val="solid"/>
          </a:ln>
        </p:spPr>
      </p:sp>
      <p:sp>
        <p:nvSpPr>
          <p:cNvPr id="25" name="evidence-tag-3"/>
          <p:cNvSpPr/>
          <p:nvPr/>
        </p:nvSpPr>
        <p:spPr>
          <a:xfrm>
            <a:off x="356616" y="4672584"/>
            <a:ext cx="1728216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890">
            <a:solidFill>
              <a:srgbClr val="D1E5F5"/>
            </a:solidFill>
            <a:prstDash val="solid"/>
          </a:ln>
        </p:spPr>
      </p:sp>
      <p:sp>
        <p:nvSpPr>
          <p:cNvPr id="26" name="evidence-3-label"/>
          <p:cNvSpPr/>
          <p:nvPr/>
        </p:nvSpPr>
        <p:spPr>
          <a:xfrm>
            <a:off x="539496" y="4782312"/>
            <a:ext cx="1252728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参与反馈</a:t>
            </a:r>
            <a:endParaRPr lang="zh-CN" sz="2000" dirty="0"/>
          </a:p>
        </p:txBody>
      </p:sp>
      <p:sp>
        <p:nvSpPr>
          <p:cNvPr id="27" name="evidence-3-evidence"/>
          <p:cNvSpPr/>
          <p:nvPr/>
        </p:nvSpPr>
        <p:spPr>
          <a:xfrm>
            <a:off x="2624328" y="47365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虚构问卷得到180份有效回复，满意度为88%。</a:t>
            </a:r>
            <a:endParaRPr lang="zh-CN" sz="1800" dirty="0"/>
          </a:p>
        </p:txBody>
      </p:sp>
      <p:sp>
        <p:nvSpPr>
          <p:cNvPr id="28" name="evidence-3-implication"/>
          <p:cNvSpPr/>
          <p:nvPr/>
        </p:nvSpPr>
        <p:spPr>
          <a:xfrm>
            <a:off x="8321040" y="4736592"/>
            <a:ext cx="338328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公开统计口径，区分样本意见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与整体判断。</a:t>
            </a:r>
            <a:endParaRPr lang="zh-CN" sz="1800" dirty="0"/>
          </a:p>
        </p:txBody>
      </p:sp>
      <p:sp>
        <p:nvSpPr>
          <p:cNvPr id="29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所有项目、社区与数字均为虚构演示。</a:t>
            </a:r>
            <a:endParaRPr lang="zh-CN" sz="800" dirty="0"/>
          </a:p>
        </p:txBody>
      </p:sp>
      <p:sp>
        <p:nvSpPr>
          <p:cNvPr id="30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03</a:t>
            </a:r>
            <a:endParaRPr lang="zh-CN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32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将试点发现的问题转为对应动作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8458200" cy="0"/>
          </a:xfrm>
          <a:prstGeom prst="line">
            <a:avLst/>
          </a:prstGeom>
          <a:noFill/>
          <a:ln w="12700">
            <a:solidFill>
              <a:srgbClr val="8AB2DD"/>
            </a:solidFill>
            <a:prstDash val="solid"/>
          </a:ln>
        </p:spPr>
      </p:sp>
      <p:sp>
        <p:nvSpPr>
          <p:cNvPr id="7" name="cause-column-label"/>
          <p:cNvSpPr/>
          <p:nvPr/>
        </p:nvSpPr>
        <p:spPr>
          <a:xfrm>
            <a:off x="914400" y="134416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具体问题</a:t>
            </a:r>
            <a:endParaRPr lang="zh-CN" sz="2200" dirty="0"/>
          </a:p>
        </p:txBody>
      </p:sp>
      <p:sp>
        <p:nvSpPr>
          <p:cNvPr id="8" name="effect-column-label"/>
          <p:cNvSpPr/>
          <p:nvPr/>
        </p:nvSpPr>
        <p:spPr>
          <a:xfrm>
            <a:off x="5120640" y="134416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对应动作</a:t>
            </a:r>
            <a:endParaRPr lang="zh-CN" sz="2200" dirty="0"/>
          </a:p>
        </p:txBody>
      </p:sp>
      <p:sp>
        <p:nvSpPr>
          <p:cNvPr id="9" name="cause-label-1"/>
          <p:cNvSpPr/>
          <p:nvPr/>
        </p:nvSpPr>
        <p:spPr>
          <a:xfrm>
            <a:off x="457200" y="2084832"/>
            <a:ext cx="603504" cy="960120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10" name="cause-number-1"/>
          <p:cNvSpPr/>
          <p:nvPr/>
        </p:nvSpPr>
        <p:spPr>
          <a:xfrm>
            <a:off x="621792" y="2276856"/>
            <a:ext cx="274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1</a:t>
            </a:r>
            <a:endParaRPr lang="zh-CN" sz="2000" dirty="0"/>
          </a:p>
        </p:txBody>
      </p:sp>
      <p:sp>
        <p:nvSpPr>
          <p:cNvPr id="11" name="cause-1"/>
          <p:cNvSpPr/>
          <p:nvPr/>
        </p:nvSpPr>
        <p:spPr>
          <a:xfrm>
            <a:off x="1207008" y="2112264"/>
            <a:ext cx="333756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活动时间集中在工作日，部分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参与者难以到场。</a:t>
            </a:r>
            <a:endParaRPr lang="zh-CN" sz="1800" dirty="0"/>
          </a:p>
        </p:txBody>
      </p:sp>
      <p:sp>
        <p:nvSpPr>
          <p:cNvPr id="12" name="cause-arrow-1"/>
          <p:cNvSpPr/>
          <p:nvPr/>
        </p:nvSpPr>
        <p:spPr>
          <a:xfrm>
            <a:off x="4608576" y="2386584"/>
            <a:ext cx="292608" cy="274320"/>
          </a:xfrm>
          <a:prstGeom prst="chevron">
            <a:avLst/>
          </a:prstGeom>
          <a:solidFill>
            <a:srgbClr val="CCD3DC"/>
          </a:solidFill>
          <a:ln w="8890">
            <a:solidFill>
              <a:srgbClr val="CCD3DC"/>
            </a:solidFill>
            <a:prstDash val="solid"/>
          </a:ln>
        </p:spPr>
      </p:sp>
      <p:sp>
        <p:nvSpPr>
          <p:cNvPr id="13" name="effect-1"/>
          <p:cNvSpPr/>
          <p:nvPr/>
        </p:nvSpPr>
        <p:spPr>
          <a:xfrm>
            <a:off x="5074920" y="2112264"/>
            <a:ext cx="278892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增加周末场次，记录不同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时间段的实际需求。</a:t>
            </a:r>
            <a:endParaRPr lang="zh-CN" sz="1800" dirty="0"/>
          </a:p>
        </p:txBody>
      </p:sp>
      <p:sp>
        <p:nvSpPr>
          <p:cNvPr id="14" name="Shape 12"/>
          <p:cNvSpPr/>
          <p:nvPr/>
        </p:nvSpPr>
        <p:spPr>
          <a:xfrm>
            <a:off x="1207008" y="3209544"/>
            <a:ext cx="6858000" cy="0"/>
          </a:xfrm>
          <a:prstGeom prst="line">
            <a:avLst/>
          </a:prstGeom>
          <a:noFill/>
          <a:ln w="7620">
            <a:solidFill>
              <a:srgbClr val="ADB3BD"/>
            </a:solidFill>
            <a:prstDash val="dash"/>
          </a:ln>
        </p:spPr>
      </p:sp>
      <p:sp>
        <p:nvSpPr>
          <p:cNvPr id="15" name="cause-label-2"/>
          <p:cNvSpPr/>
          <p:nvPr/>
        </p:nvSpPr>
        <p:spPr>
          <a:xfrm>
            <a:off x="457200" y="3364992"/>
            <a:ext cx="603504" cy="960120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16" name="cause-number-2"/>
          <p:cNvSpPr/>
          <p:nvPr/>
        </p:nvSpPr>
        <p:spPr>
          <a:xfrm>
            <a:off x="621792" y="3557016"/>
            <a:ext cx="274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</a:t>
            </a:r>
            <a:endParaRPr lang="zh-CN" sz="2000" dirty="0"/>
          </a:p>
        </p:txBody>
      </p:sp>
      <p:sp>
        <p:nvSpPr>
          <p:cNvPr id="17" name="cause-2"/>
          <p:cNvSpPr/>
          <p:nvPr/>
        </p:nvSpPr>
        <p:spPr>
          <a:xfrm>
            <a:off x="1207008" y="3392424"/>
            <a:ext cx="333756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材料准备依赖个人经验，交接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容易遗漏。</a:t>
            </a:r>
            <a:endParaRPr lang="zh-CN" sz="1800" dirty="0"/>
          </a:p>
        </p:txBody>
      </p:sp>
      <p:sp>
        <p:nvSpPr>
          <p:cNvPr id="18" name="cause-arrow-2"/>
          <p:cNvSpPr/>
          <p:nvPr/>
        </p:nvSpPr>
        <p:spPr>
          <a:xfrm>
            <a:off x="4608576" y="3666744"/>
            <a:ext cx="292608" cy="274320"/>
          </a:xfrm>
          <a:prstGeom prst="chevron">
            <a:avLst/>
          </a:prstGeom>
          <a:solidFill>
            <a:srgbClr val="CCD3DC"/>
          </a:solidFill>
          <a:ln w="8890">
            <a:solidFill>
              <a:srgbClr val="CCD3DC"/>
            </a:solidFill>
            <a:prstDash val="solid"/>
          </a:ln>
        </p:spPr>
      </p:sp>
      <p:sp>
        <p:nvSpPr>
          <p:cNvPr id="19" name="effect-2"/>
          <p:cNvSpPr/>
          <p:nvPr/>
        </p:nvSpPr>
        <p:spPr>
          <a:xfrm>
            <a:off x="5074920" y="3392424"/>
            <a:ext cx="278892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建立材料清单，逐项注明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来源、主责和完成时间。</a:t>
            </a:r>
            <a:endParaRPr lang="zh-CN" sz="1800" dirty="0"/>
          </a:p>
        </p:txBody>
      </p:sp>
      <p:sp>
        <p:nvSpPr>
          <p:cNvPr id="20" name="Shape 18"/>
          <p:cNvSpPr/>
          <p:nvPr/>
        </p:nvSpPr>
        <p:spPr>
          <a:xfrm>
            <a:off x="1207008" y="4489704"/>
            <a:ext cx="6858000" cy="0"/>
          </a:xfrm>
          <a:prstGeom prst="line">
            <a:avLst/>
          </a:prstGeom>
          <a:noFill/>
          <a:ln w="7620">
            <a:solidFill>
              <a:srgbClr val="ADB3BD"/>
            </a:solidFill>
            <a:prstDash val="dash"/>
          </a:ln>
        </p:spPr>
      </p:sp>
      <p:sp>
        <p:nvSpPr>
          <p:cNvPr id="21" name="cause-label-3"/>
          <p:cNvSpPr/>
          <p:nvPr/>
        </p:nvSpPr>
        <p:spPr>
          <a:xfrm>
            <a:off x="457200" y="4645152"/>
            <a:ext cx="603504" cy="960120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22" name="cause-number-3"/>
          <p:cNvSpPr/>
          <p:nvPr/>
        </p:nvSpPr>
        <p:spPr>
          <a:xfrm>
            <a:off x="621792" y="4837176"/>
            <a:ext cx="274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3</a:t>
            </a:r>
            <a:endParaRPr lang="zh-CN" sz="2000" dirty="0"/>
          </a:p>
        </p:txBody>
      </p:sp>
      <p:sp>
        <p:nvSpPr>
          <p:cNvPr id="23" name="cause-3"/>
          <p:cNvSpPr/>
          <p:nvPr/>
        </p:nvSpPr>
        <p:spPr>
          <a:xfrm>
            <a:off x="1207008" y="4672584"/>
            <a:ext cx="333756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问卷只记录总体满意度，难以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定位具体问题。</a:t>
            </a:r>
            <a:endParaRPr lang="zh-CN" sz="1800" dirty="0"/>
          </a:p>
        </p:txBody>
      </p:sp>
      <p:sp>
        <p:nvSpPr>
          <p:cNvPr id="24" name="cause-arrow-3"/>
          <p:cNvSpPr/>
          <p:nvPr/>
        </p:nvSpPr>
        <p:spPr>
          <a:xfrm>
            <a:off x="4608576" y="4946904"/>
            <a:ext cx="292608" cy="274320"/>
          </a:xfrm>
          <a:prstGeom prst="chevron">
            <a:avLst/>
          </a:prstGeom>
          <a:solidFill>
            <a:srgbClr val="CCD3DC"/>
          </a:solidFill>
          <a:ln w="8890">
            <a:solidFill>
              <a:srgbClr val="CCD3DC"/>
            </a:solidFill>
            <a:prstDash val="solid"/>
          </a:ln>
        </p:spPr>
      </p:sp>
      <p:sp>
        <p:nvSpPr>
          <p:cNvPr id="25" name="effect-3"/>
          <p:cNvSpPr/>
          <p:nvPr/>
        </p:nvSpPr>
        <p:spPr>
          <a:xfrm>
            <a:off x="5074920" y="4672584"/>
            <a:ext cx="278892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补充活动形式、服务环节</a:t>
            </a:r>
            <a:endParaRPr lang="zh-CN" sz="18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及开放反馈项。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412480" y="1645920"/>
            <a:ext cx="0" cy="4325112"/>
          </a:xfrm>
          <a:prstGeom prst="line">
            <a:avLst/>
          </a:prstGeom>
          <a:noFill/>
          <a:ln w="12700">
            <a:solidFill>
              <a:srgbClr val="AAB4C2"/>
            </a:solidFill>
            <a:prstDash val="solid"/>
          </a:ln>
        </p:spPr>
      </p:sp>
      <p:sp>
        <p:nvSpPr>
          <p:cNvPr id="27" name="conclusion-icon-disc"/>
          <p:cNvSpPr/>
          <p:nvPr/>
        </p:nvSpPr>
        <p:spPr>
          <a:xfrm>
            <a:off x="9326880" y="1993392"/>
            <a:ext cx="868680" cy="868680"/>
          </a:xfrm>
          <a:prstGeom prst="ellipse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4400" y="2248327"/>
            <a:ext cx="304678" cy="358445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80570" y="2203521"/>
            <a:ext cx="152339" cy="9409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76089" y="2373782"/>
            <a:ext cx="156820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76089" y="2463394"/>
            <a:ext cx="156820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76089" y="2548524"/>
            <a:ext cx="156820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33" name="conclusion-heading"/>
          <p:cNvSpPr/>
          <p:nvPr/>
        </p:nvSpPr>
        <p:spPr>
          <a:xfrm>
            <a:off x="8869680" y="3063240"/>
            <a:ext cx="228600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4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降低参与门槛</a:t>
            </a:r>
            <a:endParaRPr lang="zh-CN" sz="2400" dirty="0"/>
          </a:p>
        </p:txBody>
      </p:sp>
      <p:sp>
        <p:nvSpPr>
          <p:cNvPr id="34" name="conclusion-body"/>
          <p:cNvSpPr/>
          <p:nvPr/>
        </p:nvSpPr>
        <p:spPr>
          <a:xfrm>
            <a:off x="8869680" y="3750564"/>
            <a:ext cx="2286000" cy="1320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让每项调整都能回</a:t>
            </a:r>
            <a:endParaRPr lang="zh-CN" sz="20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到明确的问题和可</a:t>
            </a:r>
            <a:endParaRPr lang="zh-CN" sz="20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2000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检查的结果。</a:t>
            </a:r>
            <a:endParaRPr lang="zh-CN" sz="2000" dirty="0"/>
          </a:p>
        </p:txBody>
      </p:sp>
      <p:sp>
        <p:nvSpPr>
          <p:cNvPr id="35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所有项目、社区与数字均为虚构演示。</a:t>
            </a:r>
            <a:endParaRPr lang="zh-CN" sz="800" dirty="0"/>
          </a:p>
        </p:txBody>
      </p:sp>
      <p:sp>
        <p:nvSpPr>
          <p:cNvPr id="36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04</a:t>
            </a:r>
            <a:endParaRPr lang="zh-CN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32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虚构试点指标：左看参与规模，右看阶段趋势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942340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942340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942340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subtitle"/>
          <p:cNvSpPr/>
          <p:nvPr/>
        </p:nvSpPr>
        <p:spPr>
          <a:xfrm>
            <a:off x="566928" y="1125220"/>
            <a:ext cx="10881360" cy="30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趋势图不堆叠全部数据标签；完整数值另见下一页原生表格</a:t>
            </a:r>
            <a:endParaRPr lang="zh-CN" sz="1600" dirty="0"/>
          </a:p>
        </p:txBody>
      </p:sp>
      <p:sp>
        <p:nvSpPr>
          <p:cNvPr id="7" name="chart-header-0"/>
          <p:cNvSpPr/>
          <p:nvPr/>
        </p:nvSpPr>
        <p:spPr>
          <a:xfrm>
            <a:off x="502920" y="1575816"/>
            <a:ext cx="2880360" cy="457200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8" name="chart-panel-title-0"/>
          <p:cNvSpPr/>
          <p:nvPr/>
        </p:nvSpPr>
        <p:spPr>
          <a:xfrm>
            <a:off x="612648" y="1648968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参与规模</a:t>
            </a:r>
            <a:endParaRPr lang="zh-CN" sz="2200" dirty="0"/>
          </a:p>
        </p:txBody>
      </p:sp>
      <p:sp>
        <p:nvSpPr>
          <p:cNvPr id="9" name="evidence-chart-0-panel"/>
          <p:cNvSpPr/>
          <p:nvPr/>
        </p:nvSpPr>
        <p:spPr>
          <a:xfrm>
            <a:off x="502920" y="2234184"/>
            <a:ext cx="2880360" cy="3590544"/>
          </a:xfrm>
          <a:prstGeom prst="roundRect">
            <a:avLst>
              <a:gd name="adj" fmla="val 5079"/>
            </a:avLst>
          </a:prstGeom>
          <a:solidFill>
            <a:srgbClr val="E6EFF6"/>
          </a:solidFill>
          <a:ln w="8890">
            <a:solidFill>
              <a:srgbClr val="A6B8CF"/>
            </a:solidFill>
            <a:prstDash val="solid"/>
          </a:ln>
        </p:spPr>
      </p:sp>
      <p:graphicFrame>
        <p:nvGraphicFramePr>
          <p:cNvPr id="10" name="evidence-chart-0" descr=""/>
          <p:cNvGraphicFramePr/>
          <p:nvPr/>
        </p:nvGraphicFramePr>
        <p:xfrm>
          <a:off x="649224" y="2435352"/>
          <a:ext cx="2587752" cy="32705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hart-header-1"/>
          <p:cNvSpPr/>
          <p:nvPr/>
        </p:nvSpPr>
        <p:spPr>
          <a:xfrm>
            <a:off x="3694176" y="1575816"/>
            <a:ext cx="7955280" cy="457200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12" name="chart-panel-title-1"/>
          <p:cNvSpPr/>
          <p:nvPr/>
        </p:nvSpPr>
        <p:spPr>
          <a:xfrm>
            <a:off x="3803904" y="1648968"/>
            <a:ext cx="7735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2200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阶段趋势</a:t>
            </a:r>
            <a:endParaRPr lang="zh-CN" sz="2200" dirty="0"/>
          </a:p>
        </p:txBody>
      </p:sp>
      <p:sp>
        <p:nvSpPr>
          <p:cNvPr id="13" name="evidence-chart-1-panel"/>
          <p:cNvSpPr/>
          <p:nvPr/>
        </p:nvSpPr>
        <p:spPr>
          <a:xfrm>
            <a:off x="3694176" y="2234184"/>
            <a:ext cx="7955280" cy="3590544"/>
          </a:xfrm>
          <a:prstGeom prst="roundRect">
            <a:avLst>
              <a:gd name="adj" fmla="val 4075"/>
            </a:avLst>
          </a:prstGeom>
          <a:solidFill>
            <a:srgbClr val="E6EFF6"/>
          </a:solidFill>
          <a:ln w="8890">
            <a:solidFill>
              <a:srgbClr val="A6B8CF"/>
            </a:solidFill>
            <a:prstDash val="solid"/>
          </a:ln>
        </p:spPr>
      </p:sp>
      <p:graphicFrame>
        <p:nvGraphicFramePr>
          <p:cNvPr id="14" name="evidence-chart-1" descr=""/>
          <p:cNvGraphicFramePr/>
          <p:nvPr/>
        </p:nvGraphicFramePr>
        <p:xfrm>
          <a:off x="3840480" y="2435352"/>
          <a:ext cx="7662672" cy="32705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所有项目、社区与数字均为虚构演示。</a:t>
            </a:r>
            <a:endParaRPr lang="zh-CN" sz="800" dirty="0"/>
          </a:p>
        </p:txBody>
      </p:sp>
      <p:sp>
        <p:nvSpPr>
          <p:cNvPr id="16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05</a:t>
            </a:r>
            <a:endParaRPr lang="zh-CN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93776" y="292608"/>
            <a:ext cx="1106424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3200" b="1" dirty="0">
                <a:solidFill>
                  <a:srgbClr val="3479C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虚构趋势数据：保留全部数值和统计口径</a:t>
            </a:r>
            <a:endParaRPr lang="zh-CN" sz="3200" dirty="0"/>
          </a:p>
        </p:txBody>
      </p:sp>
      <p:sp>
        <p:nvSpPr>
          <p:cNvPr id="3" name="underline-a"/>
          <p:cNvSpPr/>
          <p:nvPr/>
        </p:nvSpPr>
        <p:spPr>
          <a:xfrm>
            <a:off x="493776" y="889508"/>
            <a:ext cx="475488" cy="41148"/>
          </a:xfrm>
          <a:prstGeom prst="rect">
            <a:avLst/>
          </a:prstGeom>
          <a:solidFill>
            <a:srgbClr val="3479C9"/>
          </a:solidFill>
          <a:ln w="8890">
            <a:solidFill>
              <a:srgbClr val="3479C9"/>
            </a:solidFill>
            <a:prstDash val="solid"/>
          </a:ln>
        </p:spPr>
      </p:sp>
      <p:sp>
        <p:nvSpPr>
          <p:cNvPr id="4" name="underline-b"/>
          <p:cNvSpPr/>
          <p:nvPr/>
        </p:nvSpPr>
        <p:spPr>
          <a:xfrm>
            <a:off x="987552" y="889508"/>
            <a:ext cx="182880" cy="41148"/>
          </a:xfrm>
          <a:prstGeom prst="rect">
            <a:avLst/>
          </a:prstGeom>
          <a:solidFill>
            <a:srgbClr val="5BB6DB"/>
          </a:solidFill>
          <a:ln w="8890">
            <a:solidFill>
              <a:srgbClr val="5BB6DB"/>
            </a:solidFill>
            <a:prstDash val="solid"/>
          </a:ln>
        </p:spPr>
      </p:sp>
      <p:sp>
        <p:nvSpPr>
          <p:cNvPr id="5" name="underline-c"/>
          <p:cNvSpPr/>
          <p:nvPr/>
        </p:nvSpPr>
        <p:spPr>
          <a:xfrm>
            <a:off x="1188720" y="889508"/>
            <a:ext cx="841248" cy="41148"/>
          </a:xfrm>
          <a:prstGeom prst="rect">
            <a:avLst/>
          </a:prstGeom>
          <a:solidFill>
            <a:srgbClr val="DDE9F7"/>
          </a:solidFill>
          <a:ln w="8890">
            <a:solidFill>
              <a:srgbClr val="DDE9F7"/>
            </a:solidFill>
            <a:prstDash val="solid"/>
          </a:ln>
        </p:spPr>
      </p:sp>
      <p:sp>
        <p:nvSpPr>
          <p:cNvPr id="6" name="subtitle"/>
          <p:cNvSpPr/>
          <p:nvPr/>
        </p:nvSpPr>
        <p:spPr>
          <a:xfrm>
            <a:off x="566928" y="1072388"/>
            <a:ext cx="10881360" cy="30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111111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指数仅用于演示布局，未指向任何真实项目。</a:t>
            </a:r>
            <a:endParaRPr lang="zh-CN" sz="1600" dirty="0"/>
          </a:p>
        </p:txBody>
      </p:sp>
      <p:sp>
        <p:nvSpPr>
          <p:cNvPr id="7" name="source"/>
          <p:cNvSpPr/>
          <p:nvPr/>
        </p:nvSpPr>
        <p:spPr>
          <a:xfrm>
            <a:off x="530352" y="643737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800" dirty="0">
                <a:solidFill>
                  <a:srgbClr val="8B92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所有项目、社区与数字均为虚构演示。</a:t>
            </a:r>
            <a:endParaRPr lang="zh-CN" sz="800" dirty="0"/>
          </a:p>
        </p:txBody>
      </p:sp>
      <p:sp>
        <p:nvSpPr>
          <p:cNvPr id="8" name="page"/>
          <p:cNvSpPr/>
          <p:nvPr/>
        </p:nvSpPr>
        <p:spPr>
          <a:xfrm>
            <a:off x="347472" y="6629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900" dirty="0">
                <a:solidFill>
                  <a:srgbClr val="707070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06</a:t>
            </a:r>
            <a:endParaRPr lang="zh-CN" sz="900" dirty="0"/>
          </a:p>
        </p:txBody>
      </p:sp>
      <p:graphicFrame>
        <p:nvGraphicFramePr>
          <p:cNvPr id="9" name="evide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68704"/>
          <a:ext cx="11058144" cy="914400"/>
        </p:xfrm>
        <a:graphic>
          <a:graphicData uri="http://schemas.openxmlformats.org/drawingml/2006/table">
            <a:tbl>
              <a:tblPr/>
              <a:tblGrid>
                <a:gridCol w="2325150"/>
                <a:gridCol w="2183248"/>
                <a:gridCol w="2183248"/>
                <a:gridCol w="2183248"/>
                <a:gridCol w="2183248"/>
              </a:tblGrid>
              <a:tr h="491998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指标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65B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第一周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65B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第二周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65B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第三周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65B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第四周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65BB"/>
                    </a:solidFill>
                  </a:tcPr>
                </a:tc>
              </a:tr>
              <a:tr h="491998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实际参与指数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42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59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75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92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998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计划参与指数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45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60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80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100</a:t>
                      </a:r>
                      <a:endParaRPr lang="en-US" sz="14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"/>
        <a:ea typeface="DengXian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ngXian"/>
        <a:ea typeface="DengXian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社区阅读计划 · 虚构公开示例</dc:title>
  <dc:subject>PptxGenJS Presentation</dc:subject>
  <dc:creator>blue-ib-slides demo</dc:creator>
  <cp:lastModifiedBy>blue-ib-slides demo</cp:lastModifiedBy>
  <cp:revision>1</cp:revision>
  <dcterms:created xsi:type="dcterms:W3CDTF">2026-10-26T13:59:10Z</dcterms:created>
  <dcterms:modified xsi:type="dcterms:W3CDTF">2026-10-26T13:59:10Z</dcterms:modified>
</cp:coreProperties>
</file>